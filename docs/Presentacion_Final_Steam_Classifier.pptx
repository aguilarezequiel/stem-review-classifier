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52" roundtripDataSignature="AMtx7mgjIaXcSdamNvsQsjF7DB3EOgmCt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2"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94273392e2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94273392e2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c8a0caada3_0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c8a0caada3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c9478fcecd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c9478fcec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9421e1b5d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g39421e1b5d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c9478fcecd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3c9478fcecd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5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5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5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6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6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6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6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6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6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6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6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6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6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6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6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6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6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6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6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6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6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6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6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6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6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6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6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6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6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6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6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6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6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67"/>
          <p:cNvSpPr/>
          <p:nvPr>
            <p:ph idx="2" type="pic"/>
          </p:nvPr>
        </p:nvSpPr>
        <p:spPr>
          <a:xfrm>
            <a:off x="1792288" y="612775"/>
            <a:ext cx="5486400" cy="4114800"/>
          </a:xfrm>
          <a:prstGeom prst="rect">
            <a:avLst/>
          </a:prstGeom>
          <a:noFill/>
          <a:ln>
            <a:noFill/>
          </a:ln>
        </p:spPr>
      </p:sp>
      <p:sp>
        <p:nvSpPr>
          <p:cNvPr id="64" name="Google Shape;64;p6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6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6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6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6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6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6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6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6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6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6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6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6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6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5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5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hyperlink" Target="https://www.kaggle.com/datasets/andrewmvd/steam-reviews" TargetMode="External"/><Relationship Id="rId4" Type="http://schemas.openxmlformats.org/officeDocument/2006/relationships/hyperlink" Target="https://www.kaggle.com/datasets/andrewmvd/steam-reviews"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5.png"/><Relationship Id="rId4" Type="http://schemas.openxmlformats.org/officeDocument/2006/relationships/image" Target="../media/image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9.png"/><Relationship Id="rId4" Type="http://schemas.openxmlformats.org/officeDocument/2006/relationships/image" Target="../media/image1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nvSpPr>
        <p:spPr>
          <a:xfrm>
            <a:off x="914400" y="1828800"/>
            <a:ext cx="7315200" cy="708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000">
                <a:solidFill>
                  <a:srgbClr val="003366"/>
                </a:solidFill>
                <a:latin typeface="Calibri"/>
                <a:ea typeface="Calibri"/>
                <a:cs typeface="Calibri"/>
                <a:sym typeface="Calibri"/>
              </a:rPr>
              <a:t>Video Game Review Classifier</a:t>
            </a:r>
            <a:endParaRPr/>
          </a:p>
        </p:txBody>
      </p:sp>
      <p:sp>
        <p:nvSpPr>
          <p:cNvPr id="85" name="Google Shape;85;p1"/>
          <p:cNvSpPr txBox="1"/>
          <p:nvPr/>
        </p:nvSpPr>
        <p:spPr>
          <a:xfrm>
            <a:off x="137775" y="2536800"/>
            <a:ext cx="9006300" cy="3971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400" u="none" cap="none" strike="noStrike">
                <a:solidFill>
                  <a:schemeClr val="dk1"/>
                </a:solidFill>
                <a:latin typeface="Calibri"/>
                <a:ea typeface="Calibri"/>
                <a:cs typeface="Calibri"/>
                <a:sym typeface="Calibri"/>
              </a:rPr>
              <a:t>Fine-Tuning de BERT para Análisis de Sentimiento</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Redes Neuronales Profundas</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UTN - Facultad Regional Mendoza</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Profesor Titular: Pablo Marinozi</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Alumno: Ezequiel Aguilar</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rtl="0" algn="l">
              <a:spcBef>
                <a:spcPts val="0"/>
              </a:spcBef>
              <a:spcAft>
                <a:spcPts val="0"/>
              </a:spcAft>
              <a:buClr>
                <a:schemeClr val="dk1"/>
              </a:buClr>
              <a:buFont typeface="Arial"/>
              <a:buNone/>
            </a:pPr>
            <a:r>
              <a:rPr lang="en-US">
                <a:solidFill>
                  <a:schemeClr val="dk1"/>
                </a:solidFill>
                <a:latin typeface="Calibri"/>
                <a:ea typeface="Calibri"/>
                <a:cs typeface="Calibri"/>
                <a:sym typeface="Calibri"/>
              </a:rPr>
              <a:t>Repo: https://github.com/aguilarezequiel/stem-review-classifier</a:t>
            </a:r>
            <a:endParaRPr>
              <a:solidFill>
                <a:schemeClr val="dk1"/>
              </a:solidFill>
              <a:latin typeface="Calibri"/>
              <a:ea typeface="Calibri"/>
              <a:cs typeface="Calibri"/>
              <a:sym typeface="Calibri"/>
            </a:endParaRPr>
          </a:p>
          <a:p>
            <a:pPr indent="0" lvl="0" marL="0" rtl="0" algn="l">
              <a:spcBef>
                <a:spcPts val="0"/>
              </a:spcBef>
              <a:spcAft>
                <a:spcPts val="0"/>
              </a:spcAft>
              <a:buClr>
                <a:schemeClr val="dk1"/>
              </a:buClr>
              <a:buFont typeface="Arial"/>
              <a:buNone/>
            </a:pPr>
            <a:r>
              <a:rPr lang="en-US">
                <a:solidFill>
                  <a:schemeClr val="dk1"/>
                </a:solidFill>
                <a:latin typeface="Calibri"/>
                <a:ea typeface="Calibri"/>
                <a:cs typeface="Calibri"/>
                <a:sym typeface="Calibri"/>
              </a:rPr>
              <a:t>Modelo en cloud: https://xpiwv2jnr7jzyymgh8hxem.streamlit.app/#d58bdd3e</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nvSpPr>
        <p:spPr>
          <a:xfrm>
            <a:off x="457200" y="274320"/>
            <a:ext cx="82296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003366"/>
                </a:solidFill>
                <a:latin typeface="Calibri"/>
                <a:ea typeface="Calibri"/>
                <a:cs typeface="Calibri"/>
                <a:sym typeface="Calibri"/>
              </a:rPr>
              <a:t>Indice</a:t>
            </a:r>
            <a:endParaRPr/>
          </a:p>
        </p:txBody>
      </p:sp>
      <p:sp>
        <p:nvSpPr>
          <p:cNvPr id="91" name="Google Shape;91;p2"/>
          <p:cNvSpPr txBox="1"/>
          <p:nvPr/>
        </p:nvSpPr>
        <p:spPr>
          <a:xfrm>
            <a:off x="457200" y="1188720"/>
            <a:ext cx="8229600" cy="2781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1. Introducción y Objetivos</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2. Fundamentos Teóricos</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3. Semana 1: Elección del Dataset y Aplicación</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4. Semana 2: Creación del Dataset en PyTorch</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5. Semana 3: Entrenamiento y Selección del Modelo</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6. Semana 4: Desarrollo de Interfaz y Despliegue</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7. Resultados y Prueba en vivo</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8. Conclusiones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
          <p:cNvSpPr txBox="1"/>
          <p:nvPr/>
        </p:nvSpPr>
        <p:spPr>
          <a:xfrm>
            <a:off x="457200" y="274320"/>
            <a:ext cx="822960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003366"/>
                </a:solidFill>
                <a:latin typeface="Calibri"/>
                <a:ea typeface="Calibri"/>
                <a:cs typeface="Calibri"/>
                <a:sym typeface="Calibri"/>
              </a:rPr>
              <a:t>Introducción</a:t>
            </a:r>
            <a:endParaRPr/>
          </a:p>
        </p:txBody>
      </p:sp>
      <p:sp>
        <p:nvSpPr>
          <p:cNvPr id="97" name="Google Shape;97;p3"/>
          <p:cNvSpPr txBox="1"/>
          <p:nvPr/>
        </p:nvSpPr>
        <p:spPr>
          <a:xfrm>
            <a:off x="457200" y="1188720"/>
            <a:ext cx="8229600" cy="4320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OBJETIVO DEL PROYECTO:</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Desarrollar un modelo clasificador de sentimiento para reseñas de videojuegos</a:t>
            </a:r>
            <a:r>
              <a:rPr lang="en-US"/>
              <a:t> </a:t>
            </a:r>
            <a:r>
              <a:rPr lang="en-US" sz="1600">
                <a:solidFill>
                  <a:schemeClr val="dk1"/>
                </a:solidFill>
                <a:latin typeface="Calibri"/>
                <a:ea typeface="Calibri"/>
                <a:cs typeface="Calibri"/>
                <a:sym typeface="Calibri"/>
              </a:rPr>
              <a:t>utilizando fine-tuning de BERT. De esta forma, el clasificador deberá predecir si es positiva o negativa la reseña</a:t>
            </a:r>
            <a:endParaRPr/>
          </a:p>
          <a:p>
            <a:pPr indent="0" lvl="0" marL="0" marR="0" rtl="0" algn="l">
              <a:spcBef>
                <a:spcPts val="80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ALCANCE:</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Clasificación binaria: reseñas positivas vs negativas</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Reseñas del dataset de Kaggle (www.kaggle.com/datasets/andrewmvd/steam-reviews)</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Aplicación web con Streamlit + integración Steam API</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Deployment en Streamlit Cloud</a:t>
            </a:r>
            <a:endParaRPr/>
          </a:p>
          <a:p>
            <a:pPr indent="0" lvl="0" marL="0" marR="0" rtl="0" algn="l">
              <a:spcBef>
                <a:spcPts val="80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METODOLOGÍA:</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Fine-tuning completo de bert-base-uncased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4"/>
          <p:cNvSpPr txBox="1"/>
          <p:nvPr/>
        </p:nvSpPr>
        <p:spPr>
          <a:xfrm>
            <a:off x="914400" y="2286000"/>
            <a:ext cx="7315200" cy="13716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a:solidFill>
                  <a:srgbClr val="003366"/>
                </a:solidFill>
                <a:latin typeface="Calibri"/>
                <a:ea typeface="Calibri"/>
                <a:cs typeface="Calibri"/>
                <a:sym typeface="Calibri"/>
              </a:rPr>
              <a:t>FUNDAMENTOS TEÓRICOS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5"/>
          <p:cNvSpPr txBox="1"/>
          <p:nvPr/>
        </p:nvSpPr>
        <p:spPr>
          <a:xfrm>
            <a:off x="154350" y="74145"/>
            <a:ext cx="82296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003366"/>
                </a:solidFill>
                <a:latin typeface="Calibri"/>
                <a:ea typeface="Calibri"/>
                <a:cs typeface="Calibri"/>
                <a:sym typeface="Calibri"/>
              </a:rPr>
              <a:t>¿Por qué Transformers?</a:t>
            </a:r>
            <a:endParaRPr/>
          </a:p>
        </p:txBody>
      </p:sp>
      <p:sp>
        <p:nvSpPr>
          <p:cNvPr id="108" name="Google Shape;108;p5"/>
          <p:cNvSpPr txBox="1"/>
          <p:nvPr/>
        </p:nvSpPr>
        <p:spPr>
          <a:xfrm>
            <a:off x="154350" y="597350"/>
            <a:ext cx="8552100" cy="5643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300">
                <a:solidFill>
                  <a:schemeClr val="dk1"/>
                </a:solidFill>
                <a:latin typeface="Calibri"/>
                <a:ea typeface="Calibri"/>
                <a:cs typeface="Calibri"/>
                <a:sym typeface="Calibri"/>
              </a:rPr>
              <a:t>LIMITACIONES DE LAS REDES NEURONALES RECURRENTES O CONVOLUCIONALES COMPLEJAS:</a:t>
            </a:r>
            <a:endParaRPr sz="1300"/>
          </a:p>
          <a:p>
            <a:pPr indent="0" lvl="0" marL="0" marR="0" rtl="0" algn="l">
              <a:spcBef>
                <a:spcPts val="800"/>
              </a:spcBef>
              <a:spcAft>
                <a:spcPts val="0"/>
              </a:spcAft>
              <a:buNone/>
            </a:pPr>
            <a:r>
              <a:rPr lang="en-US" sz="1300">
                <a:solidFill>
                  <a:schemeClr val="dk1"/>
                </a:solidFill>
                <a:latin typeface="Calibri"/>
                <a:ea typeface="Calibri"/>
                <a:cs typeface="Calibri"/>
                <a:sym typeface="Calibri"/>
              </a:rPr>
              <a:t>• Procesamiento secuencial → difícil paralelización </a:t>
            </a:r>
            <a:endParaRPr sz="1300">
              <a:solidFill>
                <a:schemeClr val="dk1"/>
              </a:solidFill>
              <a:latin typeface="Calibri"/>
              <a:ea typeface="Calibri"/>
              <a:cs typeface="Calibri"/>
              <a:sym typeface="Calibri"/>
            </a:endParaRPr>
          </a:p>
          <a:p>
            <a:pPr indent="0" lvl="0" marL="0" marR="0" rtl="0" algn="l">
              <a:spcBef>
                <a:spcPts val="800"/>
              </a:spcBef>
              <a:spcAft>
                <a:spcPts val="0"/>
              </a:spcAft>
              <a:buNone/>
            </a:pPr>
            <a:r>
              <a:t/>
            </a:r>
            <a:endParaRPr sz="1300">
              <a:solidFill>
                <a:schemeClr val="dk1"/>
              </a:solidFill>
              <a:latin typeface="Calibri"/>
              <a:ea typeface="Calibri"/>
              <a:cs typeface="Calibri"/>
              <a:sym typeface="Calibri"/>
            </a:endParaRPr>
          </a:p>
          <a:p>
            <a:pPr indent="0" lvl="0" marL="0" rtl="0" algn="l">
              <a:spcBef>
                <a:spcPts val="800"/>
              </a:spcBef>
              <a:spcAft>
                <a:spcPts val="0"/>
              </a:spcAft>
              <a:buClr>
                <a:schemeClr val="dk1"/>
              </a:buClr>
              <a:buFont typeface="Arial"/>
              <a:buNone/>
            </a:pPr>
            <a:r>
              <a:rPr lang="en-US" sz="1300">
                <a:solidFill>
                  <a:schemeClr val="dk1"/>
                </a:solidFill>
                <a:latin typeface="Calibri"/>
                <a:ea typeface="Calibri"/>
                <a:cs typeface="Calibri"/>
                <a:sym typeface="Calibri"/>
              </a:rPr>
              <a:t>• Extended Neural GPU, ByteNet y ConvS2S estuvieron cerca pero… crecen lineal o logaritmicamente. Cuanto más lejos están dos palabras, más difícil es que el modelo entienda su relación. "El número de operaciones requeridas para relacionar señales de dos posiciones arbitrarias crece con la distancia entre ellas"</a:t>
            </a:r>
            <a:endParaRPr sz="1300"/>
          </a:p>
          <a:p>
            <a:pPr indent="0" lvl="0" marL="0" marR="0" rtl="0" algn="l">
              <a:spcBef>
                <a:spcPts val="800"/>
              </a:spcBef>
              <a:spcAft>
                <a:spcPts val="0"/>
              </a:spcAft>
              <a:buNone/>
            </a:pPr>
            <a:r>
              <a:rPr lang="en-US" sz="1300">
                <a:solidFill>
                  <a:schemeClr val="dk1"/>
                </a:solidFill>
                <a:latin typeface="Calibri"/>
                <a:ea typeface="Calibri"/>
                <a:cs typeface="Calibri"/>
                <a:sym typeface="Calibri"/>
              </a:rPr>
              <a:t>• Vanishing/exploding gradients en secuencias largas</a:t>
            </a:r>
            <a:endParaRPr sz="1300"/>
          </a:p>
          <a:p>
            <a:pPr indent="0" lvl="0" marL="0" marR="0" rtl="0" algn="l">
              <a:spcBef>
                <a:spcPts val="800"/>
              </a:spcBef>
              <a:spcAft>
                <a:spcPts val="0"/>
              </a:spcAft>
              <a:buNone/>
            </a:pPr>
            <a:r>
              <a:t/>
            </a:r>
            <a:endParaRPr sz="1300">
              <a:solidFill>
                <a:schemeClr val="dk1"/>
              </a:solidFill>
              <a:latin typeface="Calibri"/>
              <a:ea typeface="Calibri"/>
              <a:cs typeface="Calibri"/>
              <a:sym typeface="Calibri"/>
            </a:endParaRPr>
          </a:p>
          <a:p>
            <a:pPr indent="0" lvl="0" marL="0" marR="0" rtl="0" algn="l">
              <a:spcBef>
                <a:spcPts val="800"/>
              </a:spcBef>
              <a:spcAft>
                <a:spcPts val="0"/>
              </a:spcAft>
              <a:buNone/>
            </a:pPr>
            <a:r>
              <a:rPr lang="en-US" sz="1300">
                <a:solidFill>
                  <a:schemeClr val="dk1"/>
                </a:solidFill>
                <a:latin typeface="Calibri"/>
                <a:ea typeface="Calibri"/>
                <a:cs typeface="Calibri"/>
                <a:sym typeface="Calibri"/>
              </a:rPr>
              <a:t>VENTAJAS DE TRANSFORMERS:</a:t>
            </a:r>
            <a:endParaRPr sz="1300"/>
          </a:p>
          <a:p>
            <a:pPr indent="0" lvl="0" marL="0" marR="0" rtl="0" algn="l">
              <a:spcBef>
                <a:spcPts val="800"/>
              </a:spcBef>
              <a:spcAft>
                <a:spcPts val="0"/>
              </a:spcAft>
              <a:buNone/>
            </a:pPr>
            <a:r>
              <a:rPr lang="en-US" sz="1300">
                <a:solidFill>
                  <a:schemeClr val="dk1"/>
                </a:solidFill>
                <a:latin typeface="Calibri"/>
                <a:ea typeface="Calibri"/>
                <a:cs typeface="Calibri"/>
                <a:sym typeface="Calibri"/>
              </a:rPr>
              <a:t>• Procesamiento en paralelo de toda la secuencia</a:t>
            </a:r>
            <a:endParaRPr sz="1300">
              <a:solidFill>
                <a:schemeClr val="dk1"/>
              </a:solidFill>
              <a:latin typeface="Calibri"/>
              <a:ea typeface="Calibri"/>
              <a:cs typeface="Calibri"/>
              <a:sym typeface="Calibri"/>
            </a:endParaRPr>
          </a:p>
          <a:p>
            <a:pPr indent="0" lvl="0" marL="0" rtl="0" algn="l">
              <a:spcBef>
                <a:spcPts val="800"/>
              </a:spcBef>
              <a:spcAft>
                <a:spcPts val="0"/>
              </a:spcAft>
              <a:buNone/>
            </a:pPr>
            <a:r>
              <a:rPr lang="en-US" sz="1300">
                <a:solidFill>
                  <a:schemeClr val="dk1"/>
                </a:solidFill>
                <a:latin typeface="Calibri"/>
                <a:ea typeface="Calibri"/>
                <a:cs typeface="Calibri"/>
                <a:sym typeface="Calibri"/>
              </a:rPr>
              <a:t>• Número constante de operaciones para relacionar cualquier palabra con cualquier otra gracias a self-attention</a:t>
            </a:r>
            <a:endParaRPr sz="1300">
              <a:solidFill>
                <a:schemeClr val="dk1"/>
              </a:solidFill>
              <a:latin typeface="Calibri"/>
              <a:ea typeface="Calibri"/>
              <a:cs typeface="Calibri"/>
              <a:sym typeface="Calibri"/>
            </a:endParaRPr>
          </a:p>
          <a:p>
            <a:pPr indent="0" lvl="0" marL="0" rtl="0" algn="l">
              <a:spcBef>
                <a:spcPts val="800"/>
              </a:spcBef>
              <a:spcAft>
                <a:spcPts val="0"/>
              </a:spcAft>
              <a:buNone/>
            </a:pPr>
            <a:r>
              <a:rPr lang="en-US" sz="1300">
                <a:solidFill>
                  <a:schemeClr val="dk1"/>
                </a:solidFill>
                <a:latin typeface="Calibri"/>
                <a:ea typeface="Calibri"/>
                <a:cs typeface="Calibri"/>
                <a:sym typeface="Calibri"/>
              </a:rPr>
              <a:t>• Self-attention = cada palabra decide a qué otras palabras prestar atención en una secuencia.</a:t>
            </a:r>
            <a:endParaRPr sz="1300">
              <a:solidFill>
                <a:schemeClr val="dk1"/>
              </a:solidFill>
              <a:latin typeface="Calibri"/>
              <a:ea typeface="Calibri"/>
              <a:cs typeface="Calibri"/>
              <a:sym typeface="Calibri"/>
            </a:endParaRPr>
          </a:p>
          <a:p>
            <a:pPr indent="0" lvl="0" marL="0" rtl="0" algn="l">
              <a:spcBef>
                <a:spcPts val="800"/>
              </a:spcBef>
              <a:spcAft>
                <a:spcPts val="0"/>
              </a:spcAft>
              <a:buClr>
                <a:schemeClr val="dk1"/>
              </a:buClr>
              <a:buFont typeface="Arial"/>
              <a:buNone/>
            </a:pPr>
            <a:r>
              <a:rPr lang="en-US" sz="1300">
                <a:solidFill>
                  <a:schemeClr val="dk1"/>
                </a:solidFill>
                <a:latin typeface="Calibri"/>
                <a:ea typeface="Calibri"/>
                <a:cs typeface="Calibri"/>
                <a:sym typeface="Calibri"/>
              </a:rPr>
              <a:t>• Usa </a:t>
            </a:r>
            <a:r>
              <a:rPr lang="en-US" sz="1300">
                <a:solidFill>
                  <a:schemeClr val="dk1"/>
                </a:solidFill>
                <a:latin typeface="Calibri"/>
                <a:ea typeface="Calibri"/>
                <a:cs typeface="Calibri"/>
                <a:sym typeface="Calibri"/>
              </a:rPr>
              <a:t>Multi-Head Attention porque pierde un poco de precisión local al combinar información de muchas posiciones y promediar pesos de atención. “mirar la oración desde distintos “puntos de vista”</a:t>
            </a:r>
            <a:endParaRPr sz="1300">
              <a:solidFill>
                <a:schemeClr val="dk1"/>
              </a:solidFill>
              <a:latin typeface="Calibri"/>
              <a:ea typeface="Calibri"/>
              <a:cs typeface="Calibri"/>
              <a:sym typeface="Calibri"/>
            </a:endParaRPr>
          </a:p>
          <a:p>
            <a:pPr indent="0" lvl="0" marL="0" rtl="0" algn="l">
              <a:spcBef>
                <a:spcPts val="800"/>
              </a:spcBef>
              <a:spcAft>
                <a:spcPts val="0"/>
              </a:spcAft>
              <a:buClr>
                <a:schemeClr val="dk1"/>
              </a:buClr>
              <a:buFont typeface="Arial"/>
              <a:buNone/>
            </a:pPr>
            <a:r>
              <a:rPr lang="en-US" sz="1300">
                <a:solidFill>
                  <a:schemeClr val="dk1"/>
                </a:solidFill>
                <a:latin typeface="Calibri"/>
                <a:ea typeface="Calibri"/>
                <a:cs typeface="Calibri"/>
                <a:sym typeface="Calibri"/>
              </a:rPr>
              <a:t>• Requieren significativamente menos tiempo de entrenamiento</a:t>
            </a:r>
            <a:endParaRPr sz="1300">
              <a:solidFill>
                <a:schemeClr val="dk1"/>
              </a:solidFill>
              <a:latin typeface="Calibri"/>
              <a:ea typeface="Calibri"/>
              <a:cs typeface="Calibri"/>
              <a:sym typeface="Calibri"/>
            </a:endParaRPr>
          </a:p>
          <a:p>
            <a:pPr indent="0" lvl="0" marL="0" marR="0" rtl="0" algn="l">
              <a:spcBef>
                <a:spcPts val="800"/>
              </a:spcBef>
              <a:spcAft>
                <a:spcPts val="0"/>
              </a:spcAft>
              <a:buNone/>
            </a:pPr>
            <a:r>
              <a:rPr lang="en-US" sz="1300">
                <a:solidFill>
                  <a:schemeClr val="dk1"/>
                </a:solidFill>
                <a:latin typeface="Calibri"/>
                <a:ea typeface="Calibri"/>
                <a:cs typeface="Calibri"/>
                <a:sym typeface="Calibri"/>
              </a:rPr>
              <a:t>• Self-attention captura dependencias globales directamente</a:t>
            </a:r>
            <a:endParaRPr sz="1300"/>
          </a:p>
          <a:p>
            <a:pPr indent="0" lvl="0" marL="0" marR="0" rtl="0" algn="l">
              <a:spcBef>
                <a:spcPts val="800"/>
              </a:spcBef>
              <a:spcAft>
                <a:spcPts val="0"/>
              </a:spcAft>
              <a:buNone/>
            </a:pPr>
            <a:r>
              <a:rPr lang="en-US" sz="1300">
                <a:solidFill>
                  <a:schemeClr val="dk1"/>
                </a:solidFill>
                <a:latin typeface="Calibri"/>
                <a:ea typeface="Calibri"/>
                <a:cs typeface="Calibri"/>
                <a:sym typeface="Calibri"/>
              </a:rPr>
              <a:t>• Base para modelos modernos: BERT, GPT, etc.</a:t>
            </a:r>
            <a:endParaRPr sz="1300"/>
          </a:p>
          <a:p>
            <a:pPr indent="0" lvl="0" marL="0" marR="0" rtl="0" algn="l">
              <a:spcBef>
                <a:spcPts val="800"/>
              </a:spcBef>
              <a:spcAft>
                <a:spcPts val="0"/>
              </a:spcAft>
              <a:buNone/>
            </a:pPr>
            <a:r>
              <a:t/>
            </a:r>
            <a:endParaRPr sz="1100">
              <a:solidFill>
                <a:schemeClr val="dk1"/>
              </a:solidFill>
              <a:latin typeface="Calibri"/>
              <a:ea typeface="Calibri"/>
              <a:cs typeface="Calibri"/>
              <a:sym typeface="Calibri"/>
            </a:endParaRPr>
          </a:p>
          <a:p>
            <a:pPr indent="0" lvl="0" marL="0" marR="0" rtl="0" algn="l">
              <a:spcBef>
                <a:spcPts val="800"/>
              </a:spcBef>
              <a:spcAft>
                <a:spcPts val="0"/>
              </a:spcAft>
              <a:buNone/>
            </a:pPr>
            <a:r>
              <a:t/>
            </a:r>
            <a:endParaRPr sz="1100">
              <a:solidFill>
                <a:schemeClr val="dk1"/>
              </a:solidFill>
              <a:latin typeface="Calibri"/>
              <a:ea typeface="Calibri"/>
              <a:cs typeface="Calibri"/>
              <a:sym typeface="Calibri"/>
            </a:endParaRPr>
          </a:p>
          <a:p>
            <a:pPr indent="0" lvl="0" marL="0" marR="0" rtl="0" algn="l">
              <a:spcBef>
                <a:spcPts val="800"/>
              </a:spcBef>
              <a:spcAft>
                <a:spcPts val="0"/>
              </a:spcAft>
              <a:buNone/>
            </a:pPr>
            <a:r>
              <a:t/>
            </a:r>
            <a:endParaRPr sz="1100"/>
          </a:p>
        </p:txBody>
      </p:sp>
      <p:pic>
        <p:nvPicPr>
          <p:cNvPr id="109" name="Google Shape;109;p5"/>
          <p:cNvPicPr preferRelativeResize="0"/>
          <p:nvPr/>
        </p:nvPicPr>
        <p:blipFill>
          <a:blip r:embed="rId3">
            <a:alphaModFix/>
          </a:blip>
          <a:stretch>
            <a:fillRect/>
          </a:stretch>
        </p:blipFill>
        <p:spPr>
          <a:xfrm>
            <a:off x="3767725" y="882624"/>
            <a:ext cx="1325350" cy="401100"/>
          </a:xfrm>
          <a:prstGeom prst="rect">
            <a:avLst/>
          </a:prstGeom>
          <a:noFill/>
          <a:ln>
            <a:noFill/>
          </a:ln>
        </p:spPr>
      </p:pic>
      <p:sp>
        <p:nvSpPr>
          <p:cNvPr id="110" name="Google Shape;110;p5"/>
          <p:cNvSpPr txBox="1"/>
          <p:nvPr/>
        </p:nvSpPr>
        <p:spPr>
          <a:xfrm>
            <a:off x="3767725" y="216875"/>
            <a:ext cx="8552100" cy="354000"/>
          </a:xfrm>
          <a:prstGeom prst="rect">
            <a:avLst/>
          </a:prstGeom>
          <a:noFill/>
          <a:ln>
            <a:noFill/>
          </a:ln>
        </p:spPr>
        <p:txBody>
          <a:bodyPr anchorCtr="0" anchor="t" bIns="91425" lIns="91425" spcFirstLastPara="1" rIns="91425" wrap="square" tIns="91425">
            <a:spAutoFit/>
          </a:bodyPr>
          <a:lstStyle/>
          <a:p>
            <a:pPr indent="0" lvl="0" marL="0" rtl="0" algn="l">
              <a:spcBef>
                <a:spcPts val="800"/>
              </a:spcBef>
              <a:spcAft>
                <a:spcPts val="0"/>
              </a:spcAft>
              <a:buNone/>
            </a:pPr>
            <a:r>
              <a:rPr lang="en-US" sz="1100">
                <a:solidFill>
                  <a:schemeClr val="dk1"/>
                </a:solidFill>
                <a:latin typeface="Calibri"/>
                <a:ea typeface="Calibri"/>
                <a:cs typeface="Calibri"/>
                <a:sym typeface="Calibri"/>
              </a:rPr>
              <a:t>Paper original: 'Attention is All You Need' (Vaswani et al., 2017)</a:t>
            </a:r>
            <a:endParaRPr sz="1100"/>
          </a:p>
        </p:txBody>
      </p:sp>
      <p:sp>
        <p:nvSpPr>
          <p:cNvPr id="111" name="Google Shape;111;p5"/>
          <p:cNvSpPr txBox="1"/>
          <p:nvPr/>
        </p:nvSpPr>
        <p:spPr>
          <a:xfrm>
            <a:off x="5256500" y="883075"/>
            <a:ext cx="30000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300">
                <a:latin typeface="Calibri"/>
                <a:ea typeface="Calibri"/>
                <a:cs typeface="Calibri"/>
                <a:sym typeface="Calibri"/>
              </a:rPr>
              <a:t>Ej: </a:t>
            </a:r>
            <a:r>
              <a:rPr lang="en-US" sz="1300">
                <a:latin typeface="Calibri"/>
                <a:ea typeface="Calibri"/>
                <a:cs typeface="Calibri"/>
                <a:sym typeface="Calibri"/>
              </a:rPr>
              <a:t>"El gato come pescado"</a:t>
            </a:r>
            <a:endParaRPr sz="1300">
              <a:latin typeface="Calibri"/>
              <a:ea typeface="Calibri"/>
              <a:cs typeface="Calibri"/>
              <a:sym typeface="Calibri"/>
            </a:endParaRPr>
          </a:p>
        </p:txBody>
      </p:sp>
      <p:pic>
        <p:nvPicPr>
          <p:cNvPr id="112" name="Google Shape;112;p5"/>
          <p:cNvPicPr preferRelativeResize="0"/>
          <p:nvPr/>
        </p:nvPicPr>
        <p:blipFill>
          <a:blip r:embed="rId4">
            <a:alphaModFix/>
          </a:blip>
          <a:stretch>
            <a:fillRect/>
          </a:stretch>
        </p:blipFill>
        <p:spPr>
          <a:xfrm>
            <a:off x="841518" y="5545718"/>
            <a:ext cx="3858986" cy="1157275"/>
          </a:xfrm>
          <a:prstGeom prst="rect">
            <a:avLst/>
          </a:prstGeom>
          <a:noFill/>
          <a:ln>
            <a:noFill/>
          </a:ln>
        </p:spPr>
      </p:pic>
      <p:sp>
        <p:nvSpPr>
          <p:cNvPr id="113" name="Google Shape;113;p5"/>
          <p:cNvSpPr txBox="1"/>
          <p:nvPr/>
        </p:nvSpPr>
        <p:spPr>
          <a:xfrm>
            <a:off x="5814025" y="6584625"/>
            <a:ext cx="51600" cy="8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6"/>
          <p:cNvSpPr txBox="1"/>
          <p:nvPr/>
        </p:nvSpPr>
        <p:spPr>
          <a:xfrm>
            <a:off x="457200" y="274320"/>
            <a:ext cx="822960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003366"/>
                </a:solidFill>
                <a:latin typeface="Calibri"/>
                <a:ea typeface="Calibri"/>
                <a:cs typeface="Calibri"/>
                <a:sym typeface="Calibri"/>
              </a:rPr>
              <a:t>Arquitectura Transformer - Visión General</a:t>
            </a:r>
            <a:endParaRPr/>
          </a:p>
        </p:txBody>
      </p:sp>
      <p:pic>
        <p:nvPicPr>
          <p:cNvPr id="119" name="Google Shape;119;p6"/>
          <p:cNvPicPr preferRelativeResize="0"/>
          <p:nvPr/>
        </p:nvPicPr>
        <p:blipFill>
          <a:blip r:embed="rId3">
            <a:alphaModFix/>
          </a:blip>
          <a:stretch>
            <a:fillRect/>
          </a:stretch>
        </p:blipFill>
        <p:spPr>
          <a:xfrm>
            <a:off x="6175625" y="1005850"/>
            <a:ext cx="2762175" cy="3572625"/>
          </a:xfrm>
          <a:prstGeom prst="rect">
            <a:avLst/>
          </a:prstGeom>
          <a:noFill/>
          <a:ln>
            <a:noFill/>
          </a:ln>
        </p:spPr>
      </p:pic>
      <p:sp>
        <p:nvSpPr>
          <p:cNvPr id="120" name="Google Shape;120;p6"/>
          <p:cNvSpPr txBox="1"/>
          <p:nvPr/>
        </p:nvSpPr>
        <p:spPr>
          <a:xfrm>
            <a:off x="90375" y="847625"/>
            <a:ext cx="10620900" cy="4566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3C78D8"/>
                </a:solidFill>
                <a:latin typeface="Calibri"/>
                <a:ea typeface="Calibri"/>
                <a:cs typeface="Calibri"/>
                <a:sym typeface="Calibri"/>
              </a:rPr>
              <a:t>ESTRUCTURA ENCODER-DECODER:</a:t>
            </a:r>
            <a:endParaRPr b="1">
              <a:solidFill>
                <a:srgbClr val="3C78D8"/>
              </a:solidFill>
            </a:endParaRPr>
          </a:p>
          <a:p>
            <a:pPr indent="0" lvl="0" marL="0" marR="0" rtl="0" algn="l">
              <a:spcBef>
                <a:spcPts val="800"/>
              </a:spcBef>
              <a:spcAft>
                <a:spcPts val="0"/>
              </a:spcAft>
              <a:buNone/>
            </a:pPr>
            <a:r>
              <a:rPr b="1" lang="en-US" sz="1600">
                <a:solidFill>
                  <a:srgbClr val="9900FF"/>
                </a:solidFill>
                <a:latin typeface="Calibri"/>
                <a:ea typeface="Calibri"/>
                <a:cs typeface="Calibri"/>
                <a:sym typeface="Calibri"/>
              </a:rPr>
              <a:t>ENCODER: Procesa la secuencia de entrada</a:t>
            </a:r>
            <a:endParaRPr b="1">
              <a:solidFill>
                <a:srgbClr val="9900FF"/>
              </a:solidFill>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Stack de N=6 capas idénticas (no comparten pesos)</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Cada capa: Multi-head Attention + Feed-Forward Network</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Conexiones residuales + Layer Normalization</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T</a:t>
            </a:r>
            <a:r>
              <a:rPr lang="en-US" sz="1600">
                <a:solidFill>
                  <a:schemeClr val="dk1"/>
                </a:solidFill>
                <a:latin typeface="Calibri"/>
                <a:ea typeface="Calibri"/>
                <a:cs typeface="Calibri"/>
                <a:sym typeface="Calibri"/>
              </a:rPr>
              <a:t>odas las subcapas del modelo, así como las capas de </a:t>
            </a:r>
            <a:br>
              <a:rPr lang="en-US" sz="1600">
                <a:solidFill>
                  <a:schemeClr val="dk1"/>
                </a:solidFill>
                <a:latin typeface="Calibri"/>
                <a:ea typeface="Calibri"/>
                <a:cs typeface="Calibri"/>
                <a:sym typeface="Calibri"/>
              </a:rPr>
            </a:br>
            <a:r>
              <a:rPr lang="en-US" sz="1600">
                <a:solidFill>
                  <a:schemeClr val="dk1"/>
                </a:solidFill>
                <a:latin typeface="Calibri"/>
                <a:ea typeface="Calibri"/>
                <a:cs typeface="Calibri"/>
                <a:sym typeface="Calibri"/>
              </a:rPr>
              <a:t>embeddings, producen salidas de dimensión= 512</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b="1" lang="en-US" sz="1600">
                <a:solidFill>
                  <a:srgbClr val="9900FF"/>
                </a:solidFill>
                <a:latin typeface="Calibri"/>
                <a:ea typeface="Calibri"/>
                <a:cs typeface="Calibri"/>
                <a:sym typeface="Calibri"/>
              </a:rPr>
              <a:t>DECODER: Genera la secuencia de salida</a:t>
            </a:r>
            <a:endParaRPr b="1">
              <a:solidFill>
                <a:srgbClr val="9900FF"/>
              </a:solidFill>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Stack de N=6 capas (matching encoder)</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Se </a:t>
            </a:r>
            <a:r>
              <a:rPr lang="en-US" sz="1600">
                <a:solidFill>
                  <a:schemeClr val="dk1"/>
                </a:solidFill>
                <a:latin typeface="Calibri"/>
                <a:ea typeface="Calibri"/>
                <a:cs typeface="Calibri"/>
                <a:sym typeface="Calibri"/>
              </a:rPr>
              <a:t>mantiene</a:t>
            </a:r>
            <a:r>
              <a:rPr lang="en-US" sz="1600">
                <a:solidFill>
                  <a:schemeClr val="dk1"/>
                </a:solidFill>
                <a:latin typeface="Calibri"/>
                <a:ea typeface="Calibri"/>
                <a:cs typeface="Calibri"/>
                <a:sym typeface="Calibri"/>
              </a:rPr>
              <a:t> casi todo igual salvo que se agrega una tercera </a:t>
            </a:r>
            <a:br>
              <a:rPr lang="en-US" sz="1600">
                <a:solidFill>
                  <a:schemeClr val="dk1"/>
                </a:solidFill>
                <a:latin typeface="Calibri"/>
                <a:ea typeface="Calibri"/>
                <a:cs typeface="Calibri"/>
                <a:sym typeface="Calibri"/>
              </a:rPr>
            </a:br>
            <a:r>
              <a:rPr lang="en-US" sz="1600">
                <a:solidFill>
                  <a:schemeClr val="dk1"/>
                </a:solidFill>
                <a:latin typeface="Calibri"/>
                <a:ea typeface="Calibri"/>
                <a:cs typeface="Calibri"/>
                <a:sym typeface="Calibri"/>
              </a:rPr>
              <a:t>subcapa </a:t>
            </a:r>
            <a:r>
              <a:rPr lang="en-US" sz="1600">
                <a:solidFill>
                  <a:schemeClr val="dk1"/>
                </a:solidFill>
                <a:latin typeface="Calibri"/>
                <a:ea typeface="Calibri"/>
                <a:cs typeface="Calibri"/>
                <a:sym typeface="Calibri"/>
              </a:rPr>
              <a:t>Multi-head Attention</a:t>
            </a:r>
            <a:endParaRPr/>
          </a:p>
          <a:p>
            <a:pPr indent="0" lvl="0" marL="0" rtl="0" algn="l">
              <a:spcBef>
                <a:spcPts val="800"/>
              </a:spcBef>
              <a:spcAft>
                <a:spcPts val="0"/>
              </a:spcAft>
              <a:buNone/>
            </a:pPr>
            <a:r>
              <a:rPr lang="en-US" sz="1600">
                <a:solidFill>
                  <a:schemeClr val="dk1"/>
                </a:solidFill>
                <a:latin typeface="Calibri"/>
                <a:ea typeface="Calibri"/>
                <a:cs typeface="Calibri"/>
                <a:sym typeface="Calibri"/>
              </a:rPr>
              <a:t>• “Masked” para impedir que las posiciones atiendan a posiciones </a:t>
            </a:r>
            <a:br>
              <a:rPr lang="en-US" sz="1600">
                <a:solidFill>
                  <a:schemeClr val="dk1"/>
                </a:solidFill>
                <a:latin typeface="Calibri"/>
                <a:ea typeface="Calibri"/>
                <a:cs typeface="Calibri"/>
                <a:sym typeface="Calibri"/>
              </a:rPr>
            </a:br>
            <a:r>
              <a:rPr lang="en-US" sz="1600">
                <a:solidFill>
                  <a:schemeClr val="dk1"/>
                </a:solidFill>
                <a:latin typeface="Calibri"/>
                <a:ea typeface="Calibri"/>
                <a:cs typeface="Calibri"/>
                <a:sym typeface="Calibri"/>
              </a:rPr>
              <a:t>posteriores. Asi, las predicciones para la posición i depende solo de las</a:t>
            </a:r>
            <a:endParaRPr sz="1600">
              <a:solidFill>
                <a:schemeClr val="dk1"/>
              </a:solidFill>
              <a:latin typeface="Calibri"/>
              <a:ea typeface="Calibri"/>
              <a:cs typeface="Calibri"/>
              <a:sym typeface="Calibri"/>
            </a:endParaRPr>
          </a:p>
          <a:p>
            <a:pPr indent="0" lvl="0" marL="0" rtl="0" algn="l">
              <a:spcBef>
                <a:spcPts val="800"/>
              </a:spcBef>
              <a:spcAft>
                <a:spcPts val="0"/>
              </a:spcAft>
              <a:buClr>
                <a:schemeClr val="dk1"/>
              </a:buClr>
              <a:buFont typeface="Arial"/>
              <a:buNone/>
            </a:pPr>
            <a:r>
              <a:rPr lang="en-US" sz="1600">
                <a:solidFill>
                  <a:schemeClr val="dk1"/>
                </a:solidFill>
                <a:latin typeface="Calibri"/>
                <a:ea typeface="Calibri"/>
                <a:cs typeface="Calibri"/>
                <a:sym typeface="Calibri"/>
              </a:rPr>
              <a:t>salidas conocidas menores a la posición i. </a:t>
            </a:r>
            <a:endParaRPr sz="16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4" name="Shape 124"/>
        <p:cNvGrpSpPr/>
        <p:nvPr/>
      </p:nvGrpSpPr>
      <p:grpSpPr>
        <a:xfrm>
          <a:off x="0" y="0"/>
          <a:ext cx="0" cy="0"/>
          <a:chOff x="0" y="0"/>
          <a:chExt cx="0" cy="0"/>
        </a:xfrm>
      </p:grpSpPr>
      <p:sp>
        <p:nvSpPr>
          <p:cNvPr id="125" name="Google Shape;125;p7"/>
          <p:cNvSpPr txBox="1"/>
          <p:nvPr/>
        </p:nvSpPr>
        <p:spPr>
          <a:xfrm>
            <a:off x="457200" y="274320"/>
            <a:ext cx="822960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003366"/>
                </a:solidFill>
                <a:latin typeface="Calibri"/>
                <a:ea typeface="Calibri"/>
                <a:cs typeface="Calibri"/>
                <a:sym typeface="Calibri"/>
              </a:rPr>
              <a:t>Self-Attention en Detalle</a:t>
            </a:r>
            <a:endParaRPr/>
          </a:p>
        </p:txBody>
      </p:sp>
      <p:sp>
        <p:nvSpPr>
          <p:cNvPr id="126" name="Google Shape;126;p7"/>
          <p:cNvSpPr txBox="1"/>
          <p:nvPr/>
        </p:nvSpPr>
        <p:spPr>
          <a:xfrm>
            <a:off x="457200" y="1188720"/>
            <a:ext cx="8229600" cy="5212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MECANISMO DE SELF-ATTENTION:</a:t>
            </a:r>
            <a:endParaRPr/>
          </a:p>
          <a:p>
            <a:pPr indent="0" lvl="0" marL="0" marR="0" rtl="0" algn="l">
              <a:spcBef>
                <a:spcPts val="80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1. Para cada token, generar 3 vectores mediante proyecciones lineales:</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 Query (Q): '¿qué busco?'  →  W^Q * embedding</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 Key (K): '¿qué ofrezco?'  →  W^K * embedding</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 Value (V): 'mi información'  →  W^V * embedding</a:t>
            </a:r>
            <a:endParaRPr/>
          </a:p>
          <a:p>
            <a:pPr indent="0" lvl="0" marL="0" marR="0" rtl="0" algn="l">
              <a:spcBef>
                <a:spcPts val="80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2. Calcular scores de atención (dot-product):</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score(i,j) = Q_i · K_j^T / √d_k</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donde d_k = dimensión de los vectores key (64 en BERT)</a:t>
            </a:r>
            <a:endParaRPr/>
          </a:p>
          <a:p>
            <a:pPr indent="0" lvl="0" marL="0" marR="0" rtl="0" algn="l">
              <a:spcBef>
                <a:spcPts val="80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3. Aplicar softmax para normalizar scores → pesos de atención</a:t>
            </a:r>
            <a:endParaRPr/>
          </a:p>
          <a:p>
            <a:pPr indent="0" lvl="0" marL="0" marR="0" rtl="0" algn="l">
              <a:spcBef>
                <a:spcPts val="80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4. Ponderar valores: output_i = Σ_j (attention_weight_ij * V_j)</a:t>
            </a:r>
            <a:endParaRPr/>
          </a:p>
          <a:p>
            <a:pPr indent="0" lvl="0" marL="0" marR="0" rtl="0" algn="l">
              <a:spcBef>
                <a:spcPts val="80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Permite que cada token 'atienda' a todos los demás en la secuencia.</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0" name="Shape 130"/>
        <p:cNvGrpSpPr/>
        <p:nvPr/>
      </p:nvGrpSpPr>
      <p:grpSpPr>
        <a:xfrm>
          <a:off x="0" y="0"/>
          <a:ext cx="0" cy="0"/>
          <a:chOff x="0" y="0"/>
          <a:chExt cx="0" cy="0"/>
        </a:xfrm>
      </p:grpSpPr>
      <p:sp>
        <p:nvSpPr>
          <p:cNvPr id="131" name="Google Shape;131;p8"/>
          <p:cNvSpPr txBox="1"/>
          <p:nvPr/>
        </p:nvSpPr>
        <p:spPr>
          <a:xfrm>
            <a:off x="457200" y="274320"/>
            <a:ext cx="822960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003366"/>
                </a:solidFill>
                <a:latin typeface="Calibri"/>
                <a:ea typeface="Calibri"/>
                <a:cs typeface="Calibri"/>
                <a:sym typeface="Calibri"/>
              </a:rPr>
              <a:t>Multi-Head Attention</a:t>
            </a:r>
            <a:endParaRPr/>
          </a:p>
        </p:txBody>
      </p:sp>
      <p:sp>
        <p:nvSpPr>
          <p:cNvPr id="132" name="Google Shape;132;p8"/>
          <p:cNvSpPr txBox="1"/>
          <p:nvPr/>
        </p:nvSpPr>
        <p:spPr>
          <a:xfrm>
            <a:off x="457200" y="1188720"/>
            <a:ext cx="8229600" cy="5212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MULTI-HEAD ATTENTION:</a:t>
            </a:r>
            <a:endParaRPr/>
          </a:p>
          <a:p>
            <a:pPr indent="0" lvl="0" marL="0" marR="0" rtl="0" algn="l">
              <a:spcBef>
                <a:spcPts val="80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En lugar de una única atención, usar H cabezales paralelos (h=12 en BERT base):</a:t>
            </a:r>
            <a:endParaRPr/>
          </a:p>
          <a:p>
            <a:pPr indent="0" lvl="0" marL="0" marR="0" rtl="0" algn="l">
              <a:spcBef>
                <a:spcPts val="80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Cada cabezal aprende patrones diferentes:</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 h=1 podría capturar relaciones sintácticas (sujeto-verbo)</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 h=2 podría capturar relaciones semánticas (antónimos, sinónimos)</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 h=3 podría capturar dependencias posicionales</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 etc.</a:t>
            </a:r>
            <a:endParaRPr/>
          </a:p>
          <a:p>
            <a:pPr indent="0" lvl="0" marL="0" marR="0" rtl="0" algn="l">
              <a:spcBef>
                <a:spcPts val="80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Proyecciones lineales independientes para cada cabezal:</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W^Q_h, W^K_h, W^V_h  (h = 1,...,H)</a:t>
            </a:r>
            <a:endParaRPr/>
          </a:p>
          <a:p>
            <a:pPr indent="0" lvl="0" marL="0" marR="0" rtl="0" algn="l">
              <a:spcBef>
                <a:spcPts val="80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Concatenar outputs de todos los cabezales → proyección final W^O</a:t>
            </a:r>
            <a:endParaRPr/>
          </a:p>
          <a:p>
            <a:pPr indent="0" lvl="0" marL="0" marR="0" rtl="0" algn="l">
              <a:spcBef>
                <a:spcPts val="80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MultiHead(Q,K,V) = Concat(head_1,...,head_H) W^O</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6" name="Shape 136"/>
        <p:cNvGrpSpPr/>
        <p:nvPr/>
      </p:nvGrpSpPr>
      <p:grpSpPr>
        <a:xfrm>
          <a:off x="0" y="0"/>
          <a:ext cx="0" cy="0"/>
          <a:chOff x="0" y="0"/>
          <a:chExt cx="0" cy="0"/>
        </a:xfrm>
      </p:grpSpPr>
      <p:sp>
        <p:nvSpPr>
          <p:cNvPr id="137" name="Google Shape;137;p9"/>
          <p:cNvSpPr txBox="1"/>
          <p:nvPr/>
        </p:nvSpPr>
        <p:spPr>
          <a:xfrm>
            <a:off x="457200" y="274320"/>
            <a:ext cx="822960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003366"/>
                </a:solidFill>
                <a:latin typeface="Calibri"/>
                <a:ea typeface="Calibri"/>
                <a:cs typeface="Calibri"/>
                <a:sym typeface="Calibri"/>
              </a:rPr>
              <a:t>Positional Encoding</a:t>
            </a:r>
            <a:endParaRPr/>
          </a:p>
        </p:txBody>
      </p:sp>
      <p:sp>
        <p:nvSpPr>
          <p:cNvPr id="138" name="Google Shape;138;p9"/>
          <p:cNvSpPr txBox="1"/>
          <p:nvPr/>
        </p:nvSpPr>
        <p:spPr>
          <a:xfrm>
            <a:off x="457200" y="1188720"/>
            <a:ext cx="8229600" cy="5212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POSITIONAL ENCODING:</a:t>
            </a:r>
            <a:endParaRPr/>
          </a:p>
          <a:p>
            <a:pPr indent="0" lvl="0" marL="0" marR="0" rtl="0" algn="l">
              <a:spcBef>
                <a:spcPts val="80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PROBLEMA: Self-attention es permutation-invariant</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sin orden posicional, 'el gato come pescado' = 'pescado come el gato'</a:t>
            </a:r>
            <a:endParaRPr/>
          </a:p>
          <a:p>
            <a:pPr indent="0" lvl="0" marL="0" marR="0" rtl="0" algn="l">
              <a:spcBef>
                <a:spcPts val="80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SOLUCIÓN: Agregar encodings posicionales a los embeddings de entrada</a:t>
            </a:r>
            <a:endParaRPr/>
          </a:p>
          <a:p>
            <a:pPr indent="0" lvl="0" marL="0" marR="0" rtl="0" algn="l">
              <a:spcBef>
                <a:spcPts val="80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Funciones sinusoidales de diferentes frecuencias:</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PE(pos, 2i) = sin(pos / 10000^(2i/d_model))</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PE(pos, 2i+1) = cos(pos / 10000^(2i/d_model))</a:t>
            </a:r>
            <a:endParaRPr/>
          </a:p>
          <a:p>
            <a:pPr indent="0" lvl="0" marL="0" marR="0" rtl="0" algn="l">
              <a:spcBef>
                <a:spcPts val="80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donde:</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pos = posición del token en la secuencia (0, 1, 2, ...)</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i = dimensión del embedding (0 a d_model/2)</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d_model = 768 (en BERT base)</a:t>
            </a:r>
            <a:endParaRPr/>
          </a:p>
          <a:p>
            <a:pPr indent="0" lvl="0" marL="0" marR="0" rtl="0" algn="l">
              <a:spcBef>
                <a:spcPts val="80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Ventajas: funciones periódicas permiten extrapolar a secuencias más largas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2" name="Shape 142"/>
        <p:cNvGrpSpPr/>
        <p:nvPr/>
      </p:nvGrpSpPr>
      <p:grpSpPr>
        <a:xfrm>
          <a:off x="0" y="0"/>
          <a:ext cx="0" cy="0"/>
          <a:chOff x="0" y="0"/>
          <a:chExt cx="0" cy="0"/>
        </a:xfrm>
      </p:grpSpPr>
      <p:sp>
        <p:nvSpPr>
          <p:cNvPr id="143" name="Google Shape;143;p10"/>
          <p:cNvSpPr txBox="1"/>
          <p:nvPr/>
        </p:nvSpPr>
        <p:spPr>
          <a:xfrm>
            <a:off x="457200" y="274320"/>
            <a:ext cx="822960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003366"/>
                </a:solidFill>
                <a:latin typeface="Calibri"/>
                <a:ea typeface="Calibri"/>
                <a:cs typeface="Calibri"/>
                <a:sym typeface="Calibri"/>
              </a:rPr>
              <a:t>Layer Normalization y Residual Connections</a:t>
            </a:r>
            <a:endParaRPr/>
          </a:p>
        </p:txBody>
      </p:sp>
      <p:sp>
        <p:nvSpPr>
          <p:cNvPr id="144" name="Google Shape;144;p10"/>
          <p:cNvSpPr txBox="1"/>
          <p:nvPr/>
        </p:nvSpPr>
        <p:spPr>
          <a:xfrm>
            <a:off x="457200" y="1188720"/>
            <a:ext cx="8229600" cy="5212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LAYER NORMALIZATION:</a:t>
            </a:r>
            <a:endParaRPr/>
          </a:p>
          <a:p>
            <a:pPr indent="0" lvl="0" marL="0" marR="0" rtl="0" algn="l">
              <a:spcBef>
                <a:spcPts val="80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Normalizar cada capa para estabilizar el entrenamiento:</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x_norm = γ * (x - μ) / √(σ² + ε) + β</a:t>
            </a:r>
            <a:endParaRPr/>
          </a:p>
          <a:p>
            <a:pPr indent="0" lvl="0" marL="0" marR="0" rtl="0" algn="l">
              <a:spcBef>
                <a:spcPts val="80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donde μ y σ se calculan sobre todas las features del token actual.</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γ y β son parámetros aprendibles (scale y shift).</a:t>
            </a:r>
            <a:endParaRPr/>
          </a:p>
          <a:p>
            <a:pPr indent="0" lvl="0" marL="0" marR="0" rtl="0" algn="l">
              <a:spcBef>
                <a:spcPts val="80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RESIDUAL CONNECTIONS:</a:t>
            </a:r>
            <a:endParaRPr/>
          </a:p>
          <a:p>
            <a:pPr indent="0" lvl="0" marL="0" marR="0" rtl="0" algn="l">
              <a:spcBef>
                <a:spcPts val="80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output = LayerNorm(x + Sublayer(x))</a:t>
            </a:r>
            <a:endParaRPr/>
          </a:p>
          <a:p>
            <a:pPr indent="0" lvl="0" marL="0" marR="0" rtl="0" algn="l">
              <a:spcBef>
                <a:spcPts val="80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Beneficios:</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Facilita el flujo de gradientes (evita vanishing gradients)</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Permite entrenar redes muy profundas (12-24 capas en BERT)</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Acelera convergencia</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1"/>
          <p:cNvSpPr txBox="1"/>
          <p:nvPr/>
        </p:nvSpPr>
        <p:spPr>
          <a:xfrm>
            <a:off x="179550" y="229120"/>
            <a:ext cx="82296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003366"/>
                </a:solidFill>
                <a:latin typeface="Calibri"/>
                <a:ea typeface="Calibri"/>
                <a:cs typeface="Calibri"/>
                <a:sym typeface="Calibri"/>
              </a:rPr>
              <a:t>BERT - Arquitectura</a:t>
            </a:r>
            <a:endParaRPr/>
          </a:p>
        </p:txBody>
      </p:sp>
      <p:sp>
        <p:nvSpPr>
          <p:cNvPr id="150" name="Google Shape;150;p11"/>
          <p:cNvSpPr txBox="1"/>
          <p:nvPr/>
        </p:nvSpPr>
        <p:spPr>
          <a:xfrm>
            <a:off x="114950" y="822950"/>
            <a:ext cx="8229600" cy="5936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BERT: </a:t>
            </a:r>
            <a:r>
              <a:rPr lang="en-US" sz="1200">
                <a:solidFill>
                  <a:schemeClr val="dk1"/>
                </a:solidFill>
                <a:latin typeface="Calibri"/>
                <a:ea typeface="Calibri"/>
                <a:cs typeface="Calibri"/>
                <a:sym typeface="Calibri"/>
              </a:rPr>
              <a:t>"BERT: Pre-training of Deep Bidirectional Transformers for Language Understanding"</a:t>
            </a:r>
            <a:endParaRPr sz="1200"/>
          </a:p>
          <a:p>
            <a:pPr indent="0" lvl="0" marL="0" marR="0" rtl="0" algn="l">
              <a:spcBef>
                <a:spcPts val="800"/>
              </a:spcBef>
              <a:spcAft>
                <a:spcPts val="0"/>
              </a:spcAft>
              <a:buNone/>
            </a:pPr>
            <a:r>
              <a:rPr lang="en-US" sz="1200">
                <a:solidFill>
                  <a:schemeClr val="dk1"/>
                </a:solidFill>
                <a:latin typeface="Calibri"/>
                <a:ea typeface="Calibri"/>
                <a:cs typeface="Calibri"/>
                <a:sym typeface="Calibri"/>
              </a:rPr>
              <a:t>•</a:t>
            </a:r>
            <a:r>
              <a:rPr lang="en-US" sz="1200">
                <a:solidFill>
                  <a:schemeClr val="dk1"/>
                </a:solidFill>
                <a:latin typeface="Calibri"/>
                <a:ea typeface="Calibri"/>
                <a:cs typeface="Calibri"/>
                <a:sym typeface="Calibri"/>
              </a:rPr>
              <a:t> </a:t>
            </a:r>
            <a:r>
              <a:rPr lang="en-US" sz="1200">
                <a:solidFill>
                  <a:schemeClr val="dk1"/>
                </a:solidFill>
                <a:latin typeface="Calibri"/>
                <a:ea typeface="Calibri"/>
                <a:cs typeface="Calibri"/>
                <a:sym typeface="Calibri"/>
              </a:rPr>
              <a:t>“El modelo BERT pre-entrenado puede ser ajustado (fine-tuned) con solo una capa adicional de salida para crear modelos de última generación en una amplia gama de tareas, como respuesta a preguntas e inferencia del lenguaje, sin modificaciones sustanciales en la arquitectura específica de cada tarea.”</a:t>
            </a:r>
            <a:endParaRPr sz="1200">
              <a:solidFill>
                <a:schemeClr val="dk1"/>
              </a:solidFill>
              <a:latin typeface="Calibri"/>
              <a:ea typeface="Calibri"/>
              <a:cs typeface="Calibri"/>
              <a:sym typeface="Calibri"/>
            </a:endParaRPr>
          </a:p>
          <a:p>
            <a:pPr indent="0" lvl="0" marL="0" marR="0" rtl="0" algn="l">
              <a:spcBef>
                <a:spcPts val="800"/>
              </a:spcBef>
              <a:spcAft>
                <a:spcPts val="0"/>
              </a:spcAft>
              <a:buNone/>
            </a:pPr>
            <a:r>
              <a:rPr lang="en-US" sz="1200">
                <a:solidFill>
                  <a:schemeClr val="dk1"/>
                </a:solidFill>
                <a:latin typeface="Calibri"/>
                <a:ea typeface="Calibri"/>
                <a:cs typeface="Calibri"/>
                <a:sym typeface="Calibri"/>
              </a:rPr>
              <a:t>BERT BASE (nuestro modelo):</a:t>
            </a:r>
            <a:endParaRPr sz="1200"/>
          </a:p>
          <a:p>
            <a:pPr indent="0" lvl="0" marL="0" marR="0" rtl="0" algn="l">
              <a:spcBef>
                <a:spcPts val="800"/>
              </a:spcBef>
              <a:spcAft>
                <a:spcPts val="0"/>
              </a:spcAft>
              <a:buNone/>
            </a:pPr>
            <a:r>
              <a:rPr lang="en-US" sz="1200">
                <a:solidFill>
                  <a:schemeClr val="dk1"/>
                </a:solidFill>
                <a:latin typeface="Calibri"/>
                <a:ea typeface="Calibri"/>
                <a:cs typeface="Calibri"/>
                <a:sym typeface="Calibri"/>
              </a:rPr>
              <a:t>• L=12 capas (encoders)</a:t>
            </a:r>
            <a:endParaRPr sz="1200"/>
          </a:p>
          <a:p>
            <a:pPr indent="0" lvl="0" marL="0" marR="0" rtl="0" algn="l">
              <a:spcBef>
                <a:spcPts val="800"/>
              </a:spcBef>
              <a:spcAft>
                <a:spcPts val="0"/>
              </a:spcAft>
              <a:buNone/>
            </a:pPr>
            <a:r>
              <a:rPr lang="en-US" sz="1200">
                <a:solidFill>
                  <a:schemeClr val="dk1"/>
                </a:solidFill>
                <a:latin typeface="Calibri"/>
                <a:ea typeface="Calibri"/>
                <a:cs typeface="Calibri"/>
                <a:sym typeface="Calibri"/>
              </a:rPr>
              <a:t>• H=768 hidden size (dimensión de embeddings)</a:t>
            </a:r>
            <a:endParaRPr sz="1200"/>
          </a:p>
          <a:p>
            <a:pPr indent="0" lvl="0" marL="0" marR="0" rtl="0" algn="l">
              <a:spcBef>
                <a:spcPts val="800"/>
              </a:spcBef>
              <a:spcAft>
                <a:spcPts val="0"/>
              </a:spcAft>
              <a:buNone/>
            </a:pPr>
            <a:r>
              <a:rPr lang="en-US" sz="1200">
                <a:solidFill>
                  <a:schemeClr val="dk1"/>
                </a:solidFill>
                <a:latin typeface="Calibri"/>
                <a:ea typeface="Calibri"/>
                <a:cs typeface="Calibri"/>
                <a:sym typeface="Calibri"/>
              </a:rPr>
              <a:t>• A=12 attention heads</a:t>
            </a:r>
            <a:endParaRPr sz="1200"/>
          </a:p>
          <a:p>
            <a:pPr indent="0" lvl="0" marL="0" marR="0" rtl="0" algn="l">
              <a:spcBef>
                <a:spcPts val="800"/>
              </a:spcBef>
              <a:spcAft>
                <a:spcPts val="0"/>
              </a:spcAft>
              <a:buNone/>
            </a:pPr>
            <a:r>
              <a:rPr lang="en-US" sz="1200">
                <a:solidFill>
                  <a:schemeClr val="dk1"/>
                </a:solidFill>
                <a:latin typeface="Calibri"/>
                <a:ea typeface="Calibri"/>
                <a:cs typeface="Calibri"/>
                <a:sym typeface="Calibri"/>
              </a:rPr>
              <a:t>• ~110M parámetros totales</a:t>
            </a:r>
            <a:endParaRPr sz="1200">
              <a:solidFill>
                <a:schemeClr val="dk1"/>
              </a:solidFill>
              <a:latin typeface="Calibri"/>
              <a:ea typeface="Calibri"/>
              <a:cs typeface="Calibri"/>
              <a:sym typeface="Calibri"/>
            </a:endParaRPr>
          </a:p>
          <a:p>
            <a:pPr indent="0" lvl="0" marL="0" rtl="0" algn="l">
              <a:spcBef>
                <a:spcPts val="800"/>
              </a:spcBef>
              <a:spcAft>
                <a:spcPts val="0"/>
              </a:spcAft>
              <a:buClr>
                <a:schemeClr val="dk1"/>
              </a:buClr>
              <a:buFont typeface="Arial"/>
              <a:buNone/>
            </a:pPr>
            <a:r>
              <a:rPr lang="en-US" sz="1200">
                <a:solidFill>
                  <a:schemeClr val="dk1"/>
                </a:solidFill>
                <a:latin typeface="Calibri"/>
                <a:ea typeface="Calibri"/>
                <a:cs typeface="Calibri"/>
                <a:sym typeface="Calibri"/>
              </a:rPr>
              <a:t>• Para clasificación de oraciones nos enfocamos en la salida de </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solo la primera posición [CLS].</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lang="en-US" sz="1300">
                <a:solidFill>
                  <a:schemeClr val="dk1"/>
                </a:solidFill>
                <a:latin typeface="Calibri"/>
                <a:ea typeface="Calibri"/>
                <a:cs typeface="Calibri"/>
                <a:sym typeface="Calibri"/>
              </a:rPr>
              <a:t>Paper de BERT: https://arxiv.org/pdf/1810.04805</a:t>
            </a:r>
            <a:endParaRPr sz="1300">
              <a:solidFill>
                <a:schemeClr val="dk1"/>
              </a:solidFill>
              <a:latin typeface="Calibri"/>
              <a:ea typeface="Calibri"/>
              <a:cs typeface="Calibri"/>
              <a:sym typeface="Calibri"/>
            </a:endParaRPr>
          </a:p>
        </p:txBody>
      </p:sp>
      <p:pic>
        <p:nvPicPr>
          <p:cNvPr id="151" name="Google Shape;151;p11"/>
          <p:cNvPicPr preferRelativeResize="0"/>
          <p:nvPr/>
        </p:nvPicPr>
        <p:blipFill>
          <a:blip r:embed="rId3">
            <a:alphaModFix/>
          </a:blip>
          <a:stretch>
            <a:fillRect/>
          </a:stretch>
        </p:blipFill>
        <p:spPr>
          <a:xfrm>
            <a:off x="4491650" y="2035950"/>
            <a:ext cx="4414850" cy="35104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g394273392e2_0_19"/>
          <p:cNvPicPr preferRelativeResize="0"/>
          <p:nvPr/>
        </p:nvPicPr>
        <p:blipFill>
          <a:blip r:embed="rId3">
            <a:alphaModFix/>
          </a:blip>
          <a:stretch>
            <a:fillRect/>
          </a:stretch>
        </p:blipFill>
        <p:spPr>
          <a:xfrm>
            <a:off x="275150" y="656075"/>
            <a:ext cx="5648700" cy="2146974"/>
          </a:xfrm>
          <a:prstGeom prst="rect">
            <a:avLst/>
          </a:prstGeom>
          <a:noFill/>
          <a:ln>
            <a:noFill/>
          </a:ln>
        </p:spPr>
      </p:pic>
      <p:pic>
        <p:nvPicPr>
          <p:cNvPr id="157" name="Google Shape;157;g394273392e2_0_19"/>
          <p:cNvPicPr preferRelativeResize="0"/>
          <p:nvPr/>
        </p:nvPicPr>
        <p:blipFill>
          <a:blip r:embed="rId4">
            <a:alphaModFix/>
          </a:blip>
          <a:stretch>
            <a:fillRect/>
          </a:stretch>
        </p:blipFill>
        <p:spPr>
          <a:xfrm>
            <a:off x="3045400" y="3235700"/>
            <a:ext cx="5767125" cy="317715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2"/>
          <p:cNvSpPr txBox="1"/>
          <p:nvPr/>
        </p:nvSpPr>
        <p:spPr>
          <a:xfrm>
            <a:off x="457200" y="274320"/>
            <a:ext cx="82296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003366"/>
                </a:solidFill>
                <a:latin typeface="Calibri"/>
                <a:ea typeface="Calibri"/>
                <a:cs typeface="Calibri"/>
                <a:sym typeface="Calibri"/>
              </a:rPr>
              <a:t>Pre-training de BERT </a:t>
            </a:r>
            <a:r>
              <a:rPr lang="en-US" sz="1600">
                <a:solidFill>
                  <a:schemeClr val="dk1"/>
                </a:solidFill>
                <a:latin typeface="Calibri"/>
                <a:ea typeface="Calibri"/>
                <a:cs typeface="Calibri"/>
                <a:sym typeface="Calibri"/>
              </a:rPr>
              <a:t>(Google, 2018)</a:t>
            </a:r>
            <a:endParaRPr/>
          </a:p>
        </p:txBody>
      </p:sp>
      <p:sp>
        <p:nvSpPr>
          <p:cNvPr id="163" name="Google Shape;163;p12"/>
          <p:cNvSpPr txBox="1"/>
          <p:nvPr/>
        </p:nvSpPr>
        <p:spPr>
          <a:xfrm>
            <a:off x="457200" y="943345"/>
            <a:ext cx="8229600" cy="4874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DOS TAREAS DE PRE-ENTRENAMIENTO NO SUPERVISADO:</a:t>
            </a:r>
            <a:endParaRPr/>
          </a:p>
          <a:p>
            <a:pPr indent="0" lvl="0" marL="0" marR="0" rtl="0" algn="l">
              <a:spcBef>
                <a:spcPts val="80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1. MASKED LANGUAGE MODEL (MLM):</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 15% de tokens se enmascaran aleatoriamente con [MASK]</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 Objetivo: predecir los tokens enmascarados usando contexto bidireccional</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 Ejemplo: 'El [MASK] come pescado' → predecir 'gato'</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 Aprende representaciones contextuales profundas</a:t>
            </a:r>
            <a:endParaRPr/>
          </a:p>
          <a:p>
            <a:pPr indent="0" lvl="0" marL="0" marR="0" rtl="0" algn="l">
              <a:spcBef>
                <a:spcPts val="80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2. NEXT SENTENCE PREDICTION (NSP):</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 Par de oraciones (A, B)</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 Objetivo: clasificar si B sigue a A (binario)</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 Aprende relaciones inter-oracionales</a:t>
            </a:r>
            <a:endParaRPr/>
          </a:p>
          <a:p>
            <a:pPr indent="0" lvl="0" marL="0" marR="0" rtl="0" algn="l">
              <a:spcBef>
                <a:spcPts val="80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Dataset: BooksCorpus (800M palabras) + Wikipedia inglesa (2,500M palabras)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3"/>
          <p:cNvSpPr txBox="1"/>
          <p:nvPr/>
        </p:nvSpPr>
        <p:spPr>
          <a:xfrm>
            <a:off x="457200" y="274320"/>
            <a:ext cx="822960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003366"/>
                </a:solidFill>
                <a:latin typeface="Calibri"/>
                <a:ea typeface="Calibri"/>
                <a:cs typeface="Calibri"/>
                <a:sym typeface="Calibri"/>
              </a:rPr>
              <a:t>Fine-Tuning de BERT</a:t>
            </a:r>
            <a:endParaRPr/>
          </a:p>
        </p:txBody>
      </p:sp>
      <p:sp>
        <p:nvSpPr>
          <p:cNvPr id="169" name="Google Shape;169;p13"/>
          <p:cNvSpPr txBox="1"/>
          <p:nvPr/>
        </p:nvSpPr>
        <p:spPr>
          <a:xfrm>
            <a:off x="418450" y="956220"/>
            <a:ext cx="8229600" cy="3827400"/>
          </a:xfrm>
          <a:prstGeom prst="rect">
            <a:avLst/>
          </a:prstGeom>
          <a:noFill/>
          <a:ln>
            <a:noFill/>
          </a:ln>
        </p:spPr>
        <p:txBody>
          <a:bodyPr anchorCtr="0" anchor="t" bIns="45700" lIns="91425" spcFirstLastPara="1" rIns="91425" wrap="square" tIns="45700">
            <a:spAutoFit/>
          </a:bodyPr>
          <a:lstStyle/>
          <a:p>
            <a:pPr indent="0" lvl="0" marL="0" marR="0" rtl="0" algn="l">
              <a:spcBef>
                <a:spcPts val="800"/>
              </a:spcBef>
              <a:spcAft>
                <a:spcPts val="0"/>
              </a:spcAft>
              <a:buNone/>
            </a:pPr>
            <a:r>
              <a:rPr lang="en-US" sz="1600">
                <a:solidFill>
                  <a:schemeClr val="dk1"/>
                </a:solidFill>
                <a:latin typeface="Calibri"/>
                <a:ea typeface="Calibri"/>
                <a:cs typeface="Calibri"/>
                <a:sym typeface="Calibri"/>
              </a:rPr>
              <a:t>VENTAJAS DE TRANSFER LEARNING:</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Aprovecha conocimiento lingüístico general del pre-training</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Requiere menos datos etiquetados que entrenar from scratch</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Mejor performance y convergencia más rápida</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Generaliza mejor en dominios específicos</a:t>
            </a:r>
            <a:endParaRPr/>
          </a:p>
          <a:p>
            <a:pPr indent="0" lvl="0" marL="0" marR="0" rtl="0" algn="l">
              <a:spcBef>
                <a:spcPts val="80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PROCESO:</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1. Cargar BERT pre-entrenado (pesos de MLM + NSP)</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2. Agregar capa de clasificación task-specific (linear layer)</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3. Fine-tunear TODAS las capas (no solo la capa final)</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4. Learning rate bajo (2e-5) para no 'destruir' el pre-training</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3" name="Shape 173"/>
        <p:cNvGrpSpPr/>
        <p:nvPr/>
      </p:nvGrpSpPr>
      <p:grpSpPr>
        <a:xfrm>
          <a:off x="0" y="0"/>
          <a:ext cx="0" cy="0"/>
          <a:chOff x="0" y="0"/>
          <a:chExt cx="0" cy="0"/>
        </a:xfrm>
      </p:grpSpPr>
      <p:sp>
        <p:nvSpPr>
          <p:cNvPr id="174" name="Google Shape;174;p14"/>
          <p:cNvSpPr txBox="1"/>
          <p:nvPr/>
        </p:nvSpPr>
        <p:spPr>
          <a:xfrm>
            <a:off x="457200" y="274320"/>
            <a:ext cx="8229600" cy="731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003366"/>
                </a:solidFill>
                <a:latin typeface="Calibri"/>
                <a:ea typeface="Calibri"/>
                <a:cs typeface="Calibri"/>
                <a:sym typeface="Calibri"/>
              </a:rPr>
              <a:t>¿Por qué BERT y no otros modelos?</a:t>
            </a:r>
            <a:endParaRPr/>
          </a:p>
        </p:txBody>
      </p:sp>
      <p:sp>
        <p:nvSpPr>
          <p:cNvPr id="175" name="Google Shape;175;p14"/>
          <p:cNvSpPr txBox="1"/>
          <p:nvPr/>
        </p:nvSpPr>
        <p:spPr>
          <a:xfrm>
            <a:off x="457200" y="847375"/>
            <a:ext cx="8229600" cy="661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COMPARACIÓN DE MODELOS:</a:t>
            </a:r>
            <a:endParaRPr/>
          </a:p>
          <a:p>
            <a:pPr indent="0" lvl="0" marL="0" marR="0" rtl="0" algn="l">
              <a:spcBef>
                <a:spcPts val="80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Word2Vec / GloVe:</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 Embeddings estáticos (misma representación siempre)</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 Rápidos y buenos para ciertas tareas</a:t>
            </a:r>
            <a:endParaRPr/>
          </a:p>
          <a:p>
            <a:pPr indent="0" lvl="0" marL="0" marR="0" rtl="0" algn="l">
              <a:spcBef>
                <a:spcPts val="80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ELMo (2018):</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 Embeddings contextuales (LSTM bidireccional)</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 Más lento que Transformers, menor capacidad</a:t>
            </a:r>
            <a:endParaRPr/>
          </a:p>
          <a:p>
            <a:pPr indent="0" lvl="0" marL="0" marR="0" rtl="0" algn="l">
              <a:spcBef>
                <a:spcPts val="80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GPT (decoder-only):</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 Unidireccional (solo contexto previo)</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 Excelente para generación de texto</a:t>
            </a:r>
            <a:endParaRPr/>
          </a:p>
          <a:p>
            <a:pPr indent="0" lvl="0" marL="0" marR="0" rtl="0" algn="l">
              <a:spcBef>
                <a:spcPts val="80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BERT (encoder-only):</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 Bidireccional: contexto completo (izquierda + derecha)</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 State-of-the-art en clasificación (2018-2020)</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 Modelo pre-entrenado disponible en Hugging Face</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 Documentación extensa y comunidad activa</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5"/>
          <p:cNvSpPr txBox="1"/>
          <p:nvPr/>
        </p:nvSpPr>
        <p:spPr>
          <a:xfrm>
            <a:off x="457200" y="274320"/>
            <a:ext cx="822960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003366"/>
                </a:solidFill>
                <a:latin typeface="Calibri"/>
                <a:ea typeface="Calibri"/>
                <a:cs typeface="Calibri"/>
                <a:sym typeface="Calibri"/>
              </a:rPr>
              <a:t>Tokenización con BERT</a:t>
            </a:r>
            <a:endParaRPr/>
          </a:p>
        </p:txBody>
      </p:sp>
      <p:sp>
        <p:nvSpPr>
          <p:cNvPr id="181" name="Google Shape;181;p15"/>
          <p:cNvSpPr txBox="1"/>
          <p:nvPr/>
        </p:nvSpPr>
        <p:spPr>
          <a:xfrm>
            <a:off x="457200" y="923970"/>
            <a:ext cx="8229600" cy="5571900"/>
          </a:xfrm>
          <a:prstGeom prst="rect">
            <a:avLst/>
          </a:prstGeom>
          <a:noFill/>
          <a:ln>
            <a:noFill/>
          </a:ln>
        </p:spPr>
        <p:txBody>
          <a:bodyPr anchorCtr="0" anchor="t" bIns="45700" lIns="91425" spcFirstLastPara="1" rIns="91425" wrap="square" tIns="45700">
            <a:spAutoFit/>
          </a:bodyPr>
          <a:lstStyle/>
          <a:p>
            <a:pPr indent="0" lvl="0" marL="0" marR="0" rtl="0" algn="l">
              <a:spcBef>
                <a:spcPts val="800"/>
              </a:spcBef>
              <a:spcAft>
                <a:spcPts val="0"/>
              </a:spcAft>
              <a:buNone/>
            </a:pPr>
            <a:r>
              <a:rPr lang="en-US" sz="1600">
                <a:solidFill>
                  <a:schemeClr val="dk1"/>
                </a:solidFill>
                <a:latin typeface="Calibri"/>
                <a:ea typeface="Calibri"/>
                <a:cs typeface="Calibri"/>
                <a:sym typeface="Calibri"/>
              </a:rPr>
              <a:t>BERT usa WordPiece tokenization (subword tokenization):</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Vocabulario de ~30,522 subword tokens</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Palabras frecuentes → token único ('playing')</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Palabras raras → split en subwords ('playing' → 'play', '##ing')</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Reduce vocabulario y maneja OOV (out-of-vocabulary)</a:t>
            </a:r>
            <a:endParaRPr/>
          </a:p>
          <a:p>
            <a:pPr indent="0" lvl="0" marL="0" marR="0" rtl="0" algn="l">
              <a:spcBef>
                <a:spcPts val="80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TOKENS ESPECIALES:</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[CLS]: inicio de secuencia (usado para clasificación)</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[SEP]: separador de oraciones</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[PAD]: padding para igualar longitudes en batch</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[UNK]: tokens desconocidos</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[MASK]: para MLM pre-training</a:t>
            </a:r>
            <a:endParaRPr/>
          </a:p>
          <a:p>
            <a:pPr indent="0" lvl="0" marL="0" marR="0" rtl="0" algn="l">
              <a:spcBef>
                <a:spcPts val="80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Ejemplo:</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Input: 'amazing gameplay'</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Tokens: [CLS] amazing game ##play [SEP] [PAD] [PAD]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6"/>
          <p:cNvSpPr txBox="1"/>
          <p:nvPr/>
        </p:nvSpPr>
        <p:spPr>
          <a:xfrm>
            <a:off x="914400" y="2286000"/>
            <a:ext cx="7315200" cy="9144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200">
                <a:solidFill>
                  <a:srgbClr val="FF6600"/>
                </a:solidFill>
                <a:latin typeface="Calibri"/>
                <a:ea typeface="Calibri"/>
                <a:cs typeface="Calibri"/>
                <a:sym typeface="Calibri"/>
              </a:rPr>
              <a:t>SEMANA 1</a:t>
            </a:r>
            <a:endParaRPr/>
          </a:p>
        </p:txBody>
      </p:sp>
      <p:sp>
        <p:nvSpPr>
          <p:cNvPr id="187" name="Google Shape;187;p16"/>
          <p:cNvSpPr txBox="1"/>
          <p:nvPr/>
        </p:nvSpPr>
        <p:spPr>
          <a:xfrm>
            <a:off x="914400" y="3017520"/>
            <a:ext cx="7315200" cy="1754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a:solidFill>
                  <a:srgbClr val="003366"/>
                </a:solidFill>
                <a:latin typeface="Calibri"/>
                <a:ea typeface="Calibri"/>
                <a:cs typeface="Calibri"/>
                <a:sym typeface="Calibri"/>
              </a:rPr>
              <a:t>Descripción del problema, </a:t>
            </a:r>
            <a:endParaRPr b="1" sz="3600">
              <a:solidFill>
                <a:srgbClr val="003366"/>
              </a:solidFill>
              <a:latin typeface="Calibri"/>
              <a:ea typeface="Calibri"/>
              <a:cs typeface="Calibri"/>
              <a:sym typeface="Calibri"/>
            </a:endParaRPr>
          </a:p>
          <a:p>
            <a:pPr indent="0" lvl="0" marL="0" marR="0" rtl="0" algn="ctr">
              <a:spcBef>
                <a:spcPts val="0"/>
              </a:spcBef>
              <a:spcAft>
                <a:spcPts val="0"/>
              </a:spcAft>
              <a:buNone/>
            </a:pPr>
            <a:r>
              <a:rPr b="1" lang="en-US" sz="3600">
                <a:solidFill>
                  <a:srgbClr val="003366"/>
                </a:solidFill>
                <a:latin typeface="Calibri"/>
                <a:ea typeface="Calibri"/>
                <a:cs typeface="Calibri"/>
                <a:sym typeface="Calibri"/>
              </a:rPr>
              <a:t>Elección del Dataset y Aplicación Propuesta</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g3c8a0caada3_0_22"/>
          <p:cNvSpPr txBox="1"/>
          <p:nvPr/>
        </p:nvSpPr>
        <p:spPr>
          <a:xfrm>
            <a:off x="227750" y="692925"/>
            <a:ext cx="8765700" cy="4666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lang="en-US" sz="1600">
                <a:solidFill>
                  <a:schemeClr val="dk1"/>
                </a:solidFill>
              </a:rPr>
              <a:t>El problema abordado es el </a:t>
            </a:r>
            <a:r>
              <a:rPr b="1" lang="en-US" sz="1600">
                <a:solidFill>
                  <a:schemeClr val="dk1"/>
                </a:solidFill>
              </a:rPr>
              <a:t>análisis de sentimiento automático sobre reseñas de videojuegos en distintos foros</a:t>
            </a:r>
            <a:r>
              <a:rPr lang="en-US" sz="1600">
                <a:solidFill>
                  <a:schemeClr val="dk1"/>
                </a:solidFill>
              </a:rPr>
              <a:t>, hay miles de plataformas con millones de reseñas escritas por usuarios que expresan su opinión sobre los juegos de manera libre y subjetiva. El desafío radica en que este tipo de texto es particularmente ruidoso: contiene arte ASCII, slang específico del gaming, sarcasmo, reseñas mixtas y un vocabulario muy particular del dominio. La tarea consiste en clasificar cada reseña como </a:t>
            </a:r>
            <a:r>
              <a:rPr b="1" lang="en-US" sz="1600">
                <a:solidFill>
                  <a:schemeClr val="dk1"/>
                </a:solidFill>
              </a:rPr>
              <a:t>positiva o negativa</a:t>
            </a:r>
            <a:r>
              <a:rPr lang="en-US" sz="1600">
                <a:solidFill>
                  <a:schemeClr val="dk1"/>
                </a:solidFill>
              </a:rPr>
              <a:t>, usando como dataset público el</a:t>
            </a:r>
            <a:r>
              <a:rPr lang="en-US" sz="1600">
                <a:solidFill>
                  <a:schemeClr val="dk1"/>
                </a:solidFill>
                <a:uFill>
                  <a:noFill/>
                </a:uFill>
                <a:hlinkClick r:id="rId3">
                  <a:extLst>
                    <a:ext uri="{A12FA001-AC4F-418D-AE19-62706E023703}">
                      <ahyp:hlinkClr val="tx"/>
                    </a:ext>
                  </a:extLst>
                </a:hlinkClick>
              </a:rPr>
              <a:t> </a:t>
            </a:r>
            <a:r>
              <a:rPr lang="en-US" sz="1600" u="sng">
                <a:solidFill>
                  <a:schemeClr val="hlink"/>
                </a:solidFill>
                <a:hlinkClick r:id="rId4"/>
              </a:rPr>
              <a:t>Steam Reviews de Kaggle</a:t>
            </a:r>
            <a:endParaRPr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600">
                <a:solidFill>
                  <a:schemeClr val="dk1"/>
                </a:solidFill>
              </a:rPr>
              <a:t>La aplicación propuesta es un </a:t>
            </a:r>
            <a:r>
              <a:rPr b="1" lang="en-US" sz="1600">
                <a:solidFill>
                  <a:schemeClr val="dk1"/>
                </a:solidFill>
              </a:rPr>
              <a:t>clasificador de sentimiento web</a:t>
            </a:r>
            <a:r>
              <a:rPr lang="en-US" sz="1600">
                <a:solidFill>
                  <a:schemeClr val="dk1"/>
                </a:solidFill>
              </a:rPr>
              <a:t> que permite al usuario interactuar con el modelo de dos formas: ingresando manualmente el texto de una reseña para obtener una predicción en tiempo real, o bien ingresando un Steam App ID para que la aplicación consuma la Steam Store API, descargue reseñas reales del juego seleccionado, las clasifique en batch y muestre un análisis agregado de sentimiento con comparación contra las etiquetas nativas de Steam. </a:t>
            </a:r>
            <a:endParaRPr sz="1600">
              <a:solidFill>
                <a:schemeClr val="dk1"/>
              </a:solidFill>
            </a:endParaRPr>
          </a:p>
          <a:p>
            <a:pPr indent="0" lvl="0" marL="0" rtl="0" algn="l">
              <a:spcBef>
                <a:spcPts val="1200"/>
              </a:spcBef>
              <a:spcAft>
                <a:spcPts val="0"/>
              </a:spcAft>
              <a:buNone/>
            </a:pPr>
            <a:r>
              <a:t/>
            </a:r>
            <a:endParaRPr sz="3200">
              <a:solidFill>
                <a:schemeClr val="dk1"/>
              </a:solidFill>
              <a:latin typeface="Calibri"/>
              <a:ea typeface="Calibri"/>
              <a:cs typeface="Calibri"/>
              <a:sym typeface="Calibri"/>
            </a:endParaRPr>
          </a:p>
        </p:txBody>
      </p:sp>
      <p:sp>
        <p:nvSpPr>
          <p:cNvPr id="193" name="Google Shape;193;g3c8a0caada3_0_22"/>
          <p:cNvSpPr txBox="1"/>
          <p:nvPr/>
        </p:nvSpPr>
        <p:spPr>
          <a:xfrm>
            <a:off x="0" y="0"/>
            <a:ext cx="8729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3600">
                <a:solidFill>
                  <a:srgbClr val="003366"/>
                </a:solidFill>
                <a:latin typeface="Calibri"/>
                <a:ea typeface="Calibri"/>
                <a:cs typeface="Calibri"/>
                <a:sym typeface="Calibri"/>
              </a:rPr>
              <a:t>Descripción del problema</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7"/>
          <p:cNvSpPr txBox="1"/>
          <p:nvPr/>
        </p:nvSpPr>
        <p:spPr>
          <a:xfrm>
            <a:off x="457200" y="274320"/>
            <a:ext cx="82296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003366"/>
                </a:solidFill>
                <a:latin typeface="Calibri"/>
                <a:ea typeface="Calibri"/>
                <a:cs typeface="Calibri"/>
                <a:sym typeface="Calibri"/>
              </a:rPr>
              <a:t>Dataset Seleccionado: Steam Reviews</a:t>
            </a:r>
            <a:endParaRPr/>
          </a:p>
        </p:txBody>
      </p:sp>
      <p:sp>
        <p:nvSpPr>
          <p:cNvPr id="199" name="Google Shape;199;p17"/>
          <p:cNvSpPr txBox="1"/>
          <p:nvPr/>
        </p:nvSpPr>
        <p:spPr>
          <a:xfrm>
            <a:off x="457200" y="1188720"/>
            <a:ext cx="8229600" cy="163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DATASET: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Steam Reviews (Kaggle)</a:t>
            </a:r>
            <a:endParaRPr/>
          </a:p>
          <a:p>
            <a:pPr indent="0" lvl="0" marL="0" marR="0" rtl="0" algn="l">
              <a:spcBef>
                <a:spcPts val="80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FUENTE: </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https://www.kaggle.com/datasets/andrewmvd/steam-reviews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8"/>
          <p:cNvSpPr txBox="1"/>
          <p:nvPr/>
        </p:nvSpPr>
        <p:spPr>
          <a:xfrm>
            <a:off x="457200" y="152045"/>
            <a:ext cx="82296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003366"/>
                </a:solidFill>
                <a:latin typeface="Calibri"/>
                <a:ea typeface="Calibri"/>
                <a:cs typeface="Calibri"/>
                <a:sym typeface="Calibri"/>
              </a:rPr>
              <a:t>Justificación del Dataset</a:t>
            </a:r>
            <a:endParaRPr/>
          </a:p>
        </p:txBody>
      </p:sp>
      <p:sp>
        <p:nvSpPr>
          <p:cNvPr id="205" name="Google Shape;205;p18"/>
          <p:cNvSpPr txBox="1"/>
          <p:nvPr/>
        </p:nvSpPr>
        <p:spPr>
          <a:xfrm>
            <a:off x="457200" y="735525"/>
            <a:ext cx="8229600" cy="4422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¿POR QUÉ STEAM REVIEWS?</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b="1" lang="en-US" sz="1600">
                <a:solidFill>
                  <a:srgbClr val="4A86E8"/>
                </a:solidFill>
                <a:latin typeface="Calibri"/>
                <a:ea typeface="Calibri"/>
                <a:cs typeface="Calibri"/>
                <a:sym typeface="Calibri"/>
              </a:rPr>
              <a:t>✓ DOMINIO ESPECÍFICO</a:t>
            </a:r>
            <a:endParaRPr b="1">
              <a:solidFill>
                <a:srgbClr val="4A86E8"/>
              </a:solidFill>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Vocabulario rico en gaming (gameplay, FPS, loot, grind, etc.)</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b="1" lang="en-US" sz="1600">
                <a:solidFill>
                  <a:srgbClr val="4A86E8"/>
                </a:solidFill>
                <a:latin typeface="Calibri"/>
                <a:ea typeface="Calibri"/>
                <a:cs typeface="Calibri"/>
                <a:sym typeface="Calibri"/>
              </a:rPr>
              <a:t>✓ TAMAÑO ADECUADO</a:t>
            </a:r>
            <a:endParaRPr b="1" sz="1600">
              <a:solidFill>
                <a:srgbClr val="4A86E8"/>
              </a:solidFill>
              <a:latin typeface="Calibri"/>
              <a:ea typeface="Calibri"/>
              <a:cs typeface="Calibri"/>
              <a:sym typeface="Calibri"/>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6.4 million game reviews</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b="1" lang="en-US" sz="1600">
                <a:solidFill>
                  <a:srgbClr val="4A86E8"/>
                </a:solidFill>
                <a:latin typeface="Calibri"/>
                <a:ea typeface="Calibri"/>
                <a:cs typeface="Calibri"/>
                <a:sym typeface="Calibri"/>
              </a:rPr>
              <a:t>✓ PROBLEMA BIEN DEFINIDO</a:t>
            </a:r>
            <a:endParaRPr b="1">
              <a:solidFill>
                <a:srgbClr val="4A86E8"/>
              </a:solidFill>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Clasificación binaria clara (positivo/negativo)</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Labels confiables (votación de usuarios)</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b="1" lang="en-US" sz="1600">
                <a:solidFill>
                  <a:srgbClr val="4A86E8"/>
                </a:solidFill>
                <a:latin typeface="Calibri"/>
                <a:ea typeface="Calibri"/>
                <a:cs typeface="Calibri"/>
                <a:sym typeface="Calibri"/>
              </a:rPr>
              <a:t>✓ DESAFÍO TÉCNICO</a:t>
            </a:r>
            <a:endParaRPr b="1">
              <a:solidFill>
                <a:srgbClr val="4A86E8"/>
              </a:solidFill>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Texto ruidoso (arte ASCII, emotes, slang)</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Reseñas cortas y largas</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Sarcasmo y casos ambiguos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9"/>
          <p:cNvSpPr txBox="1"/>
          <p:nvPr/>
        </p:nvSpPr>
        <p:spPr>
          <a:xfrm>
            <a:off x="457200" y="274320"/>
            <a:ext cx="822960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003366"/>
                </a:solidFill>
                <a:latin typeface="Calibri"/>
                <a:ea typeface="Calibri"/>
                <a:cs typeface="Calibri"/>
                <a:sym typeface="Calibri"/>
              </a:rPr>
              <a:t>Aplicación Web Propuesta</a:t>
            </a:r>
            <a:endParaRPr/>
          </a:p>
        </p:txBody>
      </p:sp>
      <p:sp>
        <p:nvSpPr>
          <p:cNvPr id="211" name="Google Shape;211;p19"/>
          <p:cNvSpPr txBox="1"/>
          <p:nvPr/>
        </p:nvSpPr>
        <p:spPr>
          <a:xfrm>
            <a:off x="457200" y="854045"/>
            <a:ext cx="8229600" cy="4874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APLICACIÓN WEB - DOS MODOS:</a:t>
            </a:r>
            <a:endParaRPr/>
          </a:p>
          <a:p>
            <a:pPr indent="0" lvl="0" marL="0" marR="0" rtl="0" algn="l">
              <a:spcBef>
                <a:spcPts val="80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MODO 1: ANÁLISIS MANUAL</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Text area para escribir/pegar reseña</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Clasificación en tiempo real al hacer click</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Output: sentimiento (positivo/negativo), confidence score,</a:t>
            </a:r>
            <a:r>
              <a:rPr lang="en-US"/>
              <a:t> </a:t>
            </a:r>
            <a:r>
              <a:rPr lang="en-US" sz="1600">
                <a:solidFill>
                  <a:schemeClr val="dk1"/>
                </a:solidFill>
                <a:latin typeface="Calibri"/>
                <a:ea typeface="Calibri"/>
                <a:cs typeface="Calibri"/>
                <a:sym typeface="Calibri"/>
              </a:rPr>
              <a:t>texto preprocesado visible</a:t>
            </a:r>
            <a:endParaRPr/>
          </a:p>
          <a:p>
            <a:pPr indent="0" lvl="0" marL="0" marR="0" rtl="0" algn="l">
              <a:spcBef>
                <a:spcPts val="80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MODO 2: ANÁLISIS POR STEAM APP ID</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Input: Steam App ID (ej: 1850570 para Death Stranding)</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Fetch de N reseñas reales desde Steam Store API</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Clasificación batch de todas las reseñas</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Métricas agregadas: % positivas vs negativas</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Comparación con Steam's own recommendation labels</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Muestras de predicciones con confianza</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0"/>
          <p:cNvSpPr txBox="1"/>
          <p:nvPr/>
        </p:nvSpPr>
        <p:spPr>
          <a:xfrm>
            <a:off x="914400" y="2286000"/>
            <a:ext cx="7315200" cy="9144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200">
                <a:solidFill>
                  <a:srgbClr val="FF6600"/>
                </a:solidFill>
                <a:latin typeface="Calibri"/>
                <a:ea typeface="Calibri"/>
                <a:cs typeface="Calibri"/>
                <a:sym typeface="Calibri"/>
              </a:rPr>
              <a:t>SEMANA 2</a:t>
            </a:r>
            <a:endParaRPr/>
          </a:p>
        </p:txBody>
      </p:sp>
      <p:sp>
        <p:nvSpPr>
          <p:cNvPr id="217" name="Google Shape;217;p20"/>
          <p:cNvSpPr txBox="1"/>
          <p:nvPr/>
        </p:nvSpPr>
        <p:spPr>
          <a:xfrm>
            <a:off x="914400" y="3017520"/>
            <a:ext cx="7315200" cy="13716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a:solidFill>
                  <a:srgbClr val="003366"/>
                </a:solidFill>
                <a:latin typeface="Calibri"/>
                <a:ea typeface="Calibri"/>
                <a:cs typeface="Calibri"/>
                <a:sym typeface="Calibri"/>
              </a:rPr>
              <a:t>Creación del Dataset en PyTorch</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1"/>
          <p:cNvSpPr txBox="1"/>
          <p:nvPr/>
        </p:nvSpPr>
        <p:spPr>
          <a:xfrm>
            <a:off x="457200" y="274320"/>
            <a:ext cx="822960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003366"/>
                </a:solidFill>
                <a:latin typeface="Calibri"/>
                <a:ea typeface="Calibri"/>
                <a:cs typeface="Calibri"/>
                <a:sym typeface="Calibri"/>
              </a:rPr>
              <a:t>Preprocesamiento - Desafíos</a:t>
            </a:r>
            <a:endParaRPr/>
          </a:p>
        </p:txBody>
      </p:sp>
      <p:sp>
        <p:nvSpPr>
          <p:cNvPr id="223" name="Google Shape;223;p21"/>
          <p:cNvSpPr txBox="1"/>
          <p:nvPr/>
        </p:nvSpPr>
        <p:spPr>
          <a:xfrm>
            <a:off x="457200" y="1188720"/>
            <a:ext cx="8229600" cy="3129600"/>
          </a:xfrm>
          <a:prstGeom prst="rect">
            <a:avLst/>
          </a:prstGeom>
          <a:noFill/>
          <a:ln>
            <a:noFill/>
          </a:ln>
        </p:spPr>
        <p:txBody>
          <a:bodyPr anchorCtr="0" anchor="t" bIns="45700" lIns="91425" spcFirstLastPara="1" rIns="91425" wrap="square" tIns="45700">
            <a:spAutoFit/>
          </a:bodyPr>
          <a:lstStyle/>
          <a:p>
            <a:pPr indent="0" lvl="0" marL="0" marR="0" rtl="0" algn="l">
              <a:spcBef>
                <a:spcPts val="800"/>
              </a:spcBef>
              <a:spcAft>
                <a:spcPts val="0"/>
              </a:spcAft>
              <a:buNone/>
            </a:pPr>
            <a:r>
              <a:rPr lang="en-US" sz="1600">
                <a:solidFill>
                  <a:schemeClr val="dk1"/>
                </a:solidFill>
                <a:latin typeface="Calibri"/>
                <a:ea typeface="Calibri"/>
                <a:cs typeface="Calibri"/>
                <a:sym typeface="Calibri"/>
              </a:rPr>
              <a:t>Reseñas de Steam contienen mucho ruido:</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Arte ASCII decorativo (░▒▓█, ▄▀■□, etc.)</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URLs y links externos</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Emotes con asteriscos: *joins server*, *dies inside*</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Spam y texto repetitivo ('aaaaaa', '!!!!!!!')</a:t>
            </a:r>
            <a:endParaRPr/>
          </a:p>
          <a:p>
            <a:pPr indent="0" lvl="0" marL="0" marR="0" rtl="0" algn="l">
              <a:spcBef>
                <a:spcPts val="80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Sin preprocesamiento agresivo:</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Tokens irrelevantes saturan el modelo</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Pérdida de capacidad semántica</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2"/>
          <p:cNvSpPr txBox="1"/>
          <p:nvPr/>
        </p:nvSpPr>
        <p:spPr>
          <a:xfrm>
            <a:off x="457200" y="274320"/>
            <a:ext cx="822960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003366"/>
                </a:solidFill>
                <a:latin typeface="Calibri"/>
                <a:ea typeface="Calibri"/>
                <a:cs typeface="Calibri"/>
                <a:sym typeface="Calibri"/>
              </a:rPr>
              <a:t>Pipeline de Limpieza (01_download_and_clean.py)</a:t>
            </a:r>
            <a:endParaRPr/>
          </a:p>
        </p:txBody>
      </p:sp>
      <p:sp>
        <p:nvSpPr>
          <p:cNvPr id="229" name="Google Shape;229;p22"/>
          <p:cNvSpPr txBox="1"/>
          <p:nvPr/>
        </p:nvSpPr>
        <p:spPr>
          <a:xfrm>
            <a:off x="457200" y="822895"/>
            <a:ext cx="8229600" cy="4176300"/>
          </a:xfrm>
          <a:prstGeom prst="rect">
            <a:avLst/>
          </a:prstGeom>
          <a:noFill/>
          <a:ln>
            <a:noFill/>
          </a:ln>
        </p:spPr>
        <p:txBody>
          <a:bodyPr anchorCtr="0" anchor="t" bIns="45700" lIns="91425" spcFirstLastPara="1" rIns="91425" wrap="square" tIns="45700">
            <a:spAutoFit/>
          </a:bodyPr>
          <a:lstStyle/>
          <a:p>
            <a:pPr indent="0" lvl="0" marL="0" marR="0" rtl="0" algn="l">
              <a:spcBef>
                <a:spcPts val="800"/>
              </a:spcBef>
              <a:spcAft>
                <a:spcPts val="0"/>
              </a:spcAft>
              <a:buNone/>
            </a:pPr>
            <a:r>
              <a:rPr lang="en-US" sz="1600">
                <a:solidFill>
                  <a:schemeClr val="dk1"/>
                </a:solidFill>
                <a:latin typeface="Calibri"/>
                <a:ea typeface="Calibri"/>
                <a:cs typeface="Calibri"/>
                <a:sym typeface="Calibri"/>
              </a:rPr>
              <a:t>1. Eliminar URLs (http/https/www)</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2. Remover arte ASCII (░▒▓█▄▀■□▪▫●○◆◇, etc.)</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3. Limpiar emotes (*texto*) y bullets (•, ►, ▪)</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4</a:t>
            </a:r>
            <a:r>
              <a:rPr lang="en-US" sz="1600">
                <a:solidFill>
                  <a:schemeClr val="dk1"/>
                </a:solidFill>
                <a:latin typeface="Calibri"/>
                <a:ea typeface="Calibri"/>
                <a:cs typeface="Calibri"/>
                <a:sym typeface="Calibri"/>
              </a:rPr>
              <a:t>. Eliminar resoluciones (1920x1080, etc.)</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5</a:t>
            </a:r>
            <a:r>
              <a:rPr lang="en-US" sz="1600">
                <a:solidFill>
                  <a:schemeClr val="dk1"/>
                </a:solidFill>
                <a:latin typeface="Calibri"/>
                <a:ea typeface="Calibri"/>
                <a:cs typeface="Calibri"/>
                <a:sym typeface="Calibri"/>
              </a:rPr>
              <a:t>. Colapsar puntuación excesiva: '!!!!' → '!!'</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6</a:t>
            </a:r>
            <a:r>
              <a:rPr lang="en-US" sz="1600">
                <a:solidFill>
                  <a:schemeClr val="dk1"/>
                </a:solidFill>
                <a:latin typeface="Calibri"/>
                <a:ea typeface="Calibri"/>
                <a:cs typeface="Calibri"/>
                <a:sym typeface="Calibri"/>
              </a:rPr>
              <a:t>. Limpiar caracteres especiales (mantener a-zA-Z y .,!?'-)</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7</a:t>
            </a:r>
            <a:r>
              <a:rPr lang="en-US" sz="1600">
                <a:solidFill>
                  <a:schemeClr val="dk1"/>
                </a:solidFill>
                <a:latin typeface="Calibri"/>
                <a:ea typeface="Calibri"/>
                <a:cs typeface="Calibri"/>
                <a:sym typeface="Calibri"/>
              </a:rPr>
              <a:t>. Colapsar espacios múltiples</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8</a:t>
            </a:r>
            <a:r>
              <a:rPr lang="en-US" sz="1600">
                <a:solidFill>
                  <a:schemeClr val="dk1"/>
                </a:solidFill>
                <a:latin typeface="Calibri"/>
                <a:ea typeface="Calibri"/>
                <a:cs typeface="Calibri"/>
                <a:sym typeface="Calibri"/>
              </a:rPr>
              <a:t>. Lowercase (requerido por bert-base-uncased)</a:t>
            </a:r>
            <a:endParaRPr/>
          </a:p>
          <a:p>
            <a:pPr indent="0" lvl="0" marL="0" marR="0" rtl="0" algn="l">
              <a:spcBef>
                <a:spcPts val="80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Filtrado adicional:</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Rechazar si &lt;5 o &gt;200 palabras</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Rechazar si &lt;50% caracteres únicos (spam detection)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3"/>
          <p:cNvSpPr txBox="1"/>
          <p:nvPr/>
        </p:nvSpPr>
        <p:spPr>
          <a:xfrm>
            <a:off x="457200" y="274320"/>
            <a:ext cx="822960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003366"/>
                </a:solidFill>
                <a:latin typeface="Calibri"/>
                <a:ea typeface="Calibri"/>
                <a:cs typeface="Calibri"/>
                <a:sym typeface="Calibri"/>
              </a:rPr>
              <a:t>Balanceo de Clases</a:t>
            </a:r>
            <a:endParaRPr/>
          </a:p>
        </p:txBody>
      </p:sp>
      <p:sp>
        <p:nvSpPr>
          <p:cNvPr id="235" name="Google Shape;235;p23"/>
          <p:cNvSpPr txBox="1"/>
          <p:nvPr/>
        </p:nvSpPr>
        <p:spPr>
          <a:xfrm>
            <a:off x="457200" y="866920"/>
            <a:ext cx="8229600" cy="5571900"/>
          </a:xfrm>
          <a:prstGeom prst="rect">
            <a:avLst/>
          </a:prstGeom>
          <a:noFill/>
          <a:ln>
            <a:noFill/>
          </a:ln>
        </p:spPr>
        <p:txBody>
          <a:bodyPr anchorCtr="0" anchor="t" bIns="45700" lIns="91425" spcFirstLastPara="1" rIns="91425" wrap="square" tIns="45700">
            <a:spAutoFit/>
          </a:bodyPr>
          <a:lstStyle/>
          <a:p>
            <a:pPr indent="0" lvl="0" marL="0" marR="0" rtl="0" algn="l">
              <a:spcBef>
                <a:spcPts val="800"/>
              </a:spcBef>
              <a:spcAft>
                <a:spcPts val="0"/>
              </a:spcAft>
              <a:buNone/>
            </a:pPr>
            <a:r>
              <a:rPr b="1" lang="en-US" sz="1600">
                <a:solidFill>
                  <a:srgbClr val="4A86E8"/>
                </a:solidFill>
                <a:latin typeface="Calibri"/>
                <a:ea typeface="Calibri"/>
                <a:cs typeface="Calibri"/>
                <a:sym typeface="Calibri"/>
              </a:rPr>
              <a:t>DATASET ORIGINAL:</a:t>
            </a:r>
            <a:endParaRPr b="1">
              <a:solidFill>
                <a:srgbClr val="4A86E8"/>
              </a:solidFill>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Desbalanceado naturalmente</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Más reseñas positivas que negativas (bias hacia juegos buenos)</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b="1" lang="en-US" sz="1600">
                <a:solidFill>
                  <a:srgbClr val="4A86E8"/>
                </a:solidFill>
                <a:latin typeface="Calibri"/>
                <a:ea typeface="Calibri"/>
                <a:cs typeface="Calibri"/>
                <a:sym typeface="Calibri"/>
              </a:rPr>
              <a:t>ESTRATEGIA DE BALANCEO:</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25,000 positivas + 25,000 negativas</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Shuffle con seed=42</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t/>
            </a:r>
            <a:endParaRPr b="1" sz="1600">
              <a:solidFill>
                <a:srgbClr val="4A86E8"/>
              </a:solidFill>
              <a:latin typeface="Calibri"/>
              <a:ea typeface="Calibri"/>
              <a:cs typeface="Calibri"/>
              <a:sym typeface="Calibri"/>
            </a:endParaRPr>
          </a:p>
          <a:p>
            <a:pPr indent="0" lvl="0" marL="0" marR="0" rtl="0" algn="l">
              <a:spcBef>
                <a:spcPts val="800"/>
              </a:spcBef>
              <a:spcAft>
                <a:spcPts val="0"/>
              </a:spcAft>
              <a:buNone/>
            </a:pPr>
            <a:r>
              <a:t/>
            </a:r>
            <a:endParaRPr b="1" sz="1600">
              <a:solidFill>
                <a:srgbClr val="4A86E8"/>
              </a:solidFill>
              <a:latin typeface="Calibri"/>
              <a:ea typeface="Calibri"/>
              <a:cs typeface="Calibri"/>
              <a:sym typeface="Calibri"/>
            </a:endParaRPr>
          </a:p>
          <a:p>
            <a:pPr indent="0" lvl="0" marL="0" marR="0" rtl="0" algn="l">
              <a:spcBef>
                <a:spcPts val="800"/>
              </a:spcBef>
              <a:spcAft>
                <a:spcPts val="0"/>
              </a:spcAft>
              <a:buNone/>
            </a:pPr>
            <a:r>
              <a:t/>
            </a:r>
            <a:endParaRPr b="1" sz="1600">
              <a:solidFill>
                <a:srgbClr val="4A86E8"/>
              </a:solidFill>
              <a:latin typeface="Calibri"/>
              <a:ea typeface="Calibri"/>
              <a:cs typeface="Calibri"/>
              <a:sym typeface="Calibri"/>
            </a:endParaRPr>
          </a:p>
          <a:p>
            <a:pPr indent="0" lvl="0" marL="0" marR="0" rtl="0" algn="l">
              <a:spcBef>
                <a:spcPts val="800"/>
              </a:spcBef>
              <a:spcAft>
                <a:spcPts val="0"/>
              </a:spcAft>
              <a:buNone/>
            </a:pPr>
            <a:r>
              <a:t/>
            </a:r>
            <a:endParaRPr b="1" sz="1600">
              <a:solidFill>
                <a:srgbClr val="4A86E8"/>
              </a:solidFill>
              <a:latin typeface="Calibri"/>
              <a:ea typeface="Calibri"/>
              <a:cs typeface="Calibri"/>
              <a:sym typeface="Calibri"/>
            </a:endParaRPr>
          </a:p>
          <a:p>
            <a:pPr indent="0" lvl="0" marL="0" marR="0" rtl="0" algn="l">
              <a:spcBef>
                <a:spcPts val="800"/>
              </a:spcBef>
              <a:spcAft>
                <a:spcPts val="0"/>
              </a:spcAft>
              <a:buNone/>
            </a:pPr>
            <a:r>
              <a:t/>
            </a:r>
            <a:endParaRPr b="1" sz="1600">
              <a:solidFill>
                <a:srgbClr val="4A86E8"/>
              </a:solidFill>
              <a:latin typeface="Calibri"/>
              <a:ea typeface="Calibri"/>
              <a:cs typeface="Calibri"/>
              <a:sym typeface="Calibri"/>
            </a:endParaRPr>
          </a:p>
          <a:p>
            <a:pPr indent="0" lvl="0" marL="0" marR="0" rtl="0" algn="l">
              <a:spcBef>
                <a:spcPts val="800"/>
              </a:spcBef>
              <a:spcAft>
                <a:spcPts val="0"/>
              </a:spcAft>
              <a:buNone/>
            </a:pPr>
            <a:r>
              <a:t/>
            </a:r>
            <a:endParaRPr b="1" sz="1600">
              <a:solidFill>
                <a:srgbClr val="4A86E8"/>
              </a:solidFill>
              <a:latin typeface="Calibri"/>
              <a:ea typeface="Calibri"/>
              <a:cs typeface="Calibri"/>
              <a:sym typeface="Calibri"/>
            </a:endParaRPr>
          </a:p>
          <a:p>
            <a:pPr indent="0" lvl="0" marL="0" marR="0" rtl="0" algn="l">
              <a:spcBef>
                <a:spcPts val="800"/>
              </a:spcBef>
              <a:spcAft>
                <a:spcPts val="0"/>
              </a:spcAft>
              <a:buNone/>
            </a:pPr>
            <a:r>
              <a:t/>
            </a:r>
            <a:endParaRPr b="1" sz="1600">
              <a:solidFill>
                <a:srgbClr val="4A86E8"/>
              </a:solidFill>
              <a:latin typeface="Calibri"/>
              <a:ea typeface="Calibri"/>
              <a:cs typeface="Calibri"/>
              <a:sym typeface="Calibri"/>
            </a:endParaRPr>
          </a:p>
          <a:p>
            <a:pPr indent="0" lvl="0" marL="0" marR="0" rtl="0" algn="l">
              <a:spcBef>
                <a:spcPts val="800"/>
              </a:spcBef>
              <a:spcAft>
                <a:spcPts val="0"/>
              </a:spcAft>
              <a:buNone/>
            </a:pPr>
            <a:r>
              <a:t/>
            </a:r>
            <a:endParaRPr b="1" sz="1600">
              <a:solidFill>
                <a:srgbClr val="4A86E8"/>
              </a:solidFill>
              <a:latin typeface="Calibri"/>
              <a:ea typeface="Calibri"/>
              <a:cs typeface="Calibri"/>
              <a:sym typeface="Calibri"/>
            </a:endParaRPr>
          </a:p>
          <a:p>
            <a:pPr indent="0" lvl="0" marL="0" marR="0" rtl="0" algn="l">
              <a:spcBef>
                <a:spcPts val="800"/>
              </a:spcBef>
              <a:spcAft>
                <a:spcPts val="0"/>
              </a:spcAft>
              <a:buNone/>
            </a:pPr>
            <a:r>
              <a:t/>
            </a:r>
            <a:endParaRPr b="1" sz="1600">
              <a:solidFill>
                <a:srgbClr val="4A86E8"/>
              </a:solidFill>
              <a:latin typeface="Calibri"/>
              <a:ea typeface="Calibri"/>
              <a:cs typeface="Calibri"/>
              <a:sym typeface="Calibri"/>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Guardar como: data/clean_reviews.csv</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4"/>
          <p:cNvSpPr txBox="1"/>
          <p:nvPr/>
        </p:nvSpPr>
        <p:spPr>
          <a:xfrm>
            <a:off x="83950" y="99950"/>
            <a:ext cx="9502500" cy="5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700">
                <a:solidFill>
                  <a:srgbClr val="003366"/>
                </a:solidFill>
                <a:latin typeface="Calibri"/>
                <a:ea typeface="Calibri"/>
                <a:cs typeface="Calibri"/>
                <a:sym typeface="Calibri"/>
              </a:rPr>
              <a:t>Tokenización con BertTokenizer (02_tokenize_and_dataset.py)</a:t>
            </a:r>
            <a:endParaRPr sz="1300"/>
          </a:p>
        </p:txBody>
      </p:sp>
      <p:sp>
        <p:nvSpPr>
          <p:cNvPr id="241" name="Google Shape;241;p24"/>
          <p:cNvSpPr txBox="1"/>
          <p:nvPr/>
        </p:nvSpPr>
        <p:spPr>
          <a:xfrm>
            <a:off x="231175" y="704395"/>
            <a:ext cx="8229600" cy="4874100"/>
          </a:xfrm>
          <a:prstGeom prst="rect">
            <a:avLst/>
          </a:prstGeom>
          <a:noFill/>
          <a:ln>
            <a:noFill/>
          </a:ln>
        </p:spPr>
        <p:txBody>
          <a:bodyPr anchorCtr="0" anchor="t" bIns="45700" lIns="91425" spcFirstLastPara="1" rIns="91425" wrap="square" tIns="45700">
            <a:spAutoFit/>
          </a:bodyPr>
          <a:lstStyle/>
          <a:p>
            <a:pPr indent="0" lvl="0" marL="0" marR="0" rtl="0" algn="l">
              <a:spcBef>
                <a:spcPts val="800"/>
              </a:spcBef>
              <a:spcAft>
                <a:spcPts val="0"/>
              </a:spcAft>
              <a:buNone/>
            </a:pPr>
            <a:r>
              <a:rPr b="1" lang="en-US" sz="1600">
                <a:solidFill>
                  <a:srgbClr val="4A86E8"/>
                </a:solidFill>
                <a:latin typeface="Calibri"/>
                <a:ea typeface="Calibri"/>
                <a:cs typeface="Calibri"/>
                <a:sym typeface="Calibri"/>
              </a:rPr>
              <a:t>HERRAMIENTA: </a:t>
            </a:r>
            <a:r>
              <a:rPr lang="en-US" sz="1600">
                <a:solidFill>
                  <a:schemeClr val="dk1"/>
                </a:solidFill>
                <a:latin typeface="Calibri"/>
                <a:ea typeface="Calibri"/>
                <a:cs typeface="Calibri"/>
                <a:sym typeface="Calibri"/>
              </a:rPr>
              <a:t>BertTokenizer.from_pretrained('bert-base-uncased')</a:t>
            </a:r>
            <a:endParaRPr/>
          </a:p>
          <a:p>
            <a:pPr indent="0" lvl="0" marL="0" marR="0" rtl="0" algn="l">
              <a:spcBef>
                <a:spcPts val="800"/>
              </a:spcBef>
              <a:spcAft>
                <a:spcPts val="0"/>
              </a:spcAft>
              <a:buNone/>
            </a:pPr>
            <a:r>
              <a:rPr b="1" lang="en-US" sz="1600">
                <a:solidFill>
                  <a:srgbClr val="4A86E8"/>
                </a:solidFill>
                <a:latin typeface="Calibri"/>
                <a:ea typeface="Calibri"/>
                <a:cs typeface="Calibri"/>
                <a:sym typeface="Calibri"/>
              </a:rPr>
              <a:t>CONFIGURACIÓN:</a:t>
            </a:r>
            <a:endParaRPr b="1">
              <a:solidFill>
                <a:srgbClr val="4A86E8"/>
              </a:solidFill>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tokenizer(</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text,</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add_special_tokens=True,                                  # [CLS] ... [SEP]</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max_length=128,                                                 # Longitud máxima</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padding='max_length',                                       # Pad a 128 tokens</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truncation=True,                                                  # Truncar si &gt; 128</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return_attention_mask=True,                           # Máscara de padding</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return_tensors='pt'                                             # PyTorch tensors </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a:t>
            </a:r>
            <a:endParaRPr/>
          </a:p>
          <a:p>
            <a:pPr indent="0" lvl="0" marL="0" marR="0" rtl="0" algn="l">
              <a:spcBef>
                <a:spcPts val="800"/>
              </a:spcBef>
              <a:spcAft>
                <a:spcPts val="0"/>
              </a:spcAft>
              <a:buNone/>
            </a:pPr>
            <a:r>
              <a:rPr b="1" lang="en-US" sz="1600">
                <a:solidFill>
                  <a:srgbClr val="4A86E8"/>
                </a:solidFill>
                <a:latin typeface="Calibri"/>
                <a:ea typeface="Calibri"/>
                <a:cs typeface="Calibri"/>
                <a:sym typeface="Calibri"/>
              </a:rPr>
              <a:t>¿POR QUÉ max_length=128?</a:t>
            </a:r>
            <a:endParaRPr b="1">
              <a:solidFill>
                <a:srgbClr val="4A86E8"/>
              </a:solidFill>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BERT soporta hasta 512 tokens</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Pero 128 es suficiente para 95% de nuestras reseñas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5"/>
          <p:cNvSpPr txBox="1"/>
          <p:nvPr/>
        </p:nvSpPr>
        <p:spPr>
          <a:xfrm>
            <a:off x="457200" y="274320"/>
            <a:ext cx="822960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003366"/>
                </a:solidFill>
                <a:latin typeface="Calibri"/>
                <a:ea typeface="Calibri"/>
                <a:cs typeface="Calibri"/>
                <a:sym typeface="Calibri"/>
              </a:rPr>
              <a:t>Attention Masks</a:t>
            </a:r>
            <a:endParaRPr/>
          </a:p>
        </p:txBody>
      </p:sp>
      <p:sp>
        <p:nvSpPr>
          <p:cNvPr id="247" name="Google Shape;247;p25"/>
          <p:cNvSpPr txBox="1"/>
          <p:nvPr/>
        </p:nvSpPr>
        <p:spPr>
          <a:xfrm>
            <a:off x="457200" y="950325"/>
            <a:ext cx="8229600" cy="4874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4A86E8"/>
                </a:solidFill>
                <a:latin typeface="Calibri"/>
                <a:ea typeface="Calibri"/>
                <a:cs typeface="Calibri"/>
                <a:sym typeface="Calibri"/>
              </a:rPr>
              <a:t>PROBLEMA:</a:t>
            </a:r>
            <a:endParaRPr b="1">
              <a:solidFill>
                <a:srgbClr val="4A86E8"/>
              </a:solidFill>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Batch de secuencias de diferentes longitudes</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padding con [PAD] tokens para igualar</a:t>
            </a:r>
            <a:endParaRPr/>
          </a:p>
          <a:p>
            <a:pPr indent="0" lvl="0" marL="0" marR="0" rtl="0" algn="l">
              <a:spcBef>
                <a:spcPts val="800"/>
              </a:spcBef>
              <a:spcAft>
                <a:spcPts val="0"/>
              </a:spcAft>
              <a:buNone/>
            </a:pPr>
            <a:r>
              <a:rPr b="1" lang="en-US" sz="1600">
                <a:solidFill>
                  <a:srgbClr val="4A86E8"/>
                </a:solidFill>
                <a:latin typeface="Calibri"/>
                <a:ea typeface="Calibri"/>
                <a:cs typeface="Calibri"/>
                <a:sym typeface="Calibri"/>
              </a:rPr>
              <a:t>SOLUCIÓN:</a:t>
            </a:r>
            <a:endParaRPr b="1">
              <a:solidFill>
                <a:srgbClr val="4A86E8"/>
              </a:solidFill>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Attention mask indica qué tokens son reales vs padding:</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1 = token real (debe ser atendido)</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0 = padding (debe ser ignorado)</a:t>
            </a:r>
            <a:endParaRPr/>
          </a:p>
          <a:p>
            <a:pPr indent="0" lvl="0" marL="0" marR="0" rtl="0" algn="l">
              <a:spcBef>
                <a:spcPts val="800"/>
              </a:spcBef>
              <a:spcAft>
                <a:spcPts val="0"/>
              </a:spcAft>
              <a:buNone/>
            </a:pPr>
            <a:r>
              <a:rPr b="1" lang="en-US" sz="1600">
                <a:solidFill>
                  <a:srgbClr val="4A86E8"/>
                </a:solidFill>
                <a:latin typeface="Calibri"/>
                <a:ea typeface="Calibri"/>
                <a:cs typeface="Calibri"/>
                <a:sym typeface="Calibri"/>
              </a:rPr>
              <a:t>EJEMPLO</a:t>
            </a:r>
            <a:r>
              <a:rPr b="1" lang="en-US" sz="1600">
                <a:solidFill>
                  <a:srgbClr val="4A86E8"/>
                </a:solidFill>
                <a:latin typeface="Calibri"/>
                <a:ea typeface="Calibri"/>
                <a:cs typeface="Calibri"/>
                <a:sym typeface="Calibri"/>
              </a:rPr>
              <a:t>:</a:t>
            </a:r>
            <a:endParaRPr b="1">
              <a:solidFill>
                <a:srgbClr val="4A86E8"/>
              </a:solidFill>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Tokens:  [CLS] this game rocks [SEP] [PAD] [PAD] [PAD]</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IDs:     [ 101  2023  2208  5714  102   0     0     0  ]</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Mask:    [  1    1    1    1    1    0     0     0  ]</a:t>
            </a:r>
            <a:endParaRPr/>
          </a:p>
          <a:p>
            <a:pPr indent="0" lvl="0" marL="0" marR="0" rtl="0" algn="l">
              <a:spcBef>
                <a:spcPts val="800"/>
              </a:spcBef>
              <a:spcAft>
                <a:spcPts val="0"/>
              </a:spcAft>
              <a:buNone/>
            </a:pPr>
            <a:r>
              <a:rPr b="1" lang="en-US" sz="1600">
                <a:solidFill>
                  <a:srgbClr val="4A86E8"/>
                </a:solidFill>
                <a:latin typeface="Calibri"/>
                <a:ea typeface="Calibri"/>
                <a:cs typeface="Calibri"/>
                <a:sym typeface="Calibri"/>
              </a:rPr>
              <a:t>DURANTE SELF-ATTENTION</a:t>
            </a:r>
            <a:r>
              <a:rPr b="1" lang="en-US" sz="1600">
                <a:solidFill>
                  <a:srgbClr val="4A86E8"/>
                </a:solidFill>
                <a:latin typeface="Calibri"/>
                <a:ea typeface="Calibri"/>
                <a:cs typeface="Calibri"/>
                <a:sym typeface="Calibri"/>
              </a:rPr>
              <a:t>:</a:t>
            </a:r>
            <a:endParaRPr b="1">
              <a:solidFill>
                <a:srgbClr val="4A86E8"/>
              </a:solidFill>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Tokens con mask=1 participan normalmente</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Tokens con mask=0 son enmascarados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6"/>
          <p:cNvSpPr txBox="1"/>
          <p:nvPr/>
        </p:nvSpPr>
        <p:spPr>
          <a:xfrm>
            <a:off x="180460" y="71040"/>
            <a:ext cx="82296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003366"/>
                </a:solidFill>
                <a:latin typeface="Calibri"/>
                <a:ea typeface="Calibri"/>
                <a:cs typeface="Calibri"/>
                <a:sym typeface="Calibri"/>
              </a:rPr>
              <a:t>TensorDataset y Splits</a:t>
            </a:r>
            <a:endParaRPr/>
          </a:p>
        </p:txBody>
      </p:sp>
      <p:sp>
        <p:nvSpPr>
          <p:cNvPr id="253" name="Google Shape;253;p26"/>
          <p:cNvSpPr txBox="1"/>
          <p:nvPr/>
        </p:nvSpPr>
        <p:spPr>
          <a:xfrm>
            <a:off x="457200" y="600676"/>
            <a:ext cx="8229600" cy="5571900"/>
          </a:xfrm>
          <a:prstGeom prst="rect">
            <a:avLst/>
          </a:prstGeom>
          <a:noFill/>
          <a:ln>
            <a:noFill/>
          </a:ln>
        </p:spPr>
        <p:txBody>
          <a:bodyPr anchorCtr="0" anchor="t" bIns="45700" lIns="91425" spcFirstLastPara="1" rIns="91425" wrap="square" tIns="45700">
            <a:spAutoFit/>
          </a:bodyPr>
          <a:lstStyle/>
          <a:p>
            <a:pPr indent="0" lvl="0" marL="0" marR="0" rtl="0" algn="l">
              <a:spcBef>
                <a:spcPts val="800"/>
              </a:spcBef>
              <a:spcAft>
                <a:spcPts val="0"/>
              </a:spcAft>
              <a:buNone/>
            </a:pPr>
            <a:r>
              <a:rPr lang="en-US" sz="1600">
                <a:solidFill>
                  <a:schemeClr val="dk1"/>
                </a:solidFill>
                <a:latin typeface="Calibri"/>
                <a:ea typeface="Calibri"/>
                <a:cs typeface="Calibri"/>
                <a:sym typeface="Calibri"/>
              </a:rPr>
              <a:t>COMPONENTES:</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input_ids: índices de tokens en vocabulario (shape: [N, 128])</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attention_mask: máscara de padding (shape: [N, 128])</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labels: 0=negativa, 1=positiva (shape: [N])</a:t>
            </a:r>
            <a:endParaRPr/>
          </a:p>
          <a:p>
            <a:pPr indent="0" lvl="0" marL="0" marR="0" rtl="0" algn="l">
              <a:spcBef>
                <a:spcPts val="80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dataset = TensorDataset(input_ids, attention_masks, labels)</a:t>
            </a:r>
            <a:endParaRPr/>
          </a:p>
          <a:p>
            <a:pPr indent="0" lvl="0" marL="0" marR="0" rtl="0" algn="l">
              <a:spcBef>
                <a:spcPts val="80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SPLIT 80/10/10 (random_split con seed):</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Train: 40,000 muestras (80%)</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Validation: 5,000 muestras (10%)</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Test: 5,000 muestras (10%)</a:t>
            </a:r>
            <a:endParaRPr/>
          </a:p>
          <a:p>
            <a:pPr indent="0" lvl="0" marL="0" marR="0" rtl="0" algn="l">
              <a:spcBef>
                <a:spcPts val="80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Guardado como .pt:</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torch.save(train_dataset, 'tensors/train_dataset.pt')</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torch.save(val_dataset, 'tensors/val_dataset.pt')</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torch.save(test_dataset, 'tensors/test_dataset.pt')</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7"/>
          <p:cNvSpPr txBox="1"/>
          <p:nvPr/>
        </p:nvSpPr>
        <p:spPr>
          <a:xfrm>
            <a:off x="914400" y="2286000"/>
            <a:ext cx="7315200" cy="9144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200">
                <a:solidFill>
                  <a:srgbClr val="FF6600"/>
                </a:solidFill>
                <a:latin typeface="Calibri"/>
                <a:ea typeface="Calibri"/>
                <a:cs typeface="Calibri"/>
                <a:sym typeface="Calibri"/>
              </a:rPr>
              <a:t>SEMANA 3</a:t>
            </a:r>
            <a:endParaRPr/>
          </a:p>
        </p:txBody>
      </p:sp>
      <p:sp>
        <p:nvSpPr>
          <p:cNvPr id="259" name="Google Shape;259;p27"/>
          <p:cNvSpPr txBox="1"/>
          <p:nvPr/>
        </p:nvSpPr>
        <p:spPr>
          <a:xfrm>
            <a:off x="914400" y="3017520"/>
            <a:ext cx="7315200" cy="13716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a:solidFill>
                  <a:srgbClr val="003366"/>
                </a:solidFill>
                <a:latin typeface="Calibri"/>
                <a:ea typeface="Calibri"/>
                <a:cs typeface="Calibri"/>
                <a:sym typeface="Calibri"/>
              </a:rPr>
              <a:t>Entrenamiento y Selección del Modelo</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8"/>
          <p:cNvSpPr txBox="1"/>
          <p:nvPr/>
        </p:nvSpPr>
        <p:spPr>
          <a:xfrm>
            <a:off x="457200" y="-21727"/>
            <a:ext cx="82296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003366"/>
                </a:solidFill>
                <a:latin typeface="Calibri"/>
                <a:ea typeface="Calibri"/>
                <a:cs typeface="Calibri"/>
                <a:sym typeface="Calibri"/>
              </a:rPr>
              <a:t>Arquitectura del Modelo</a:t>
            </a:r>
            <a:endParaRPr/>
          </a:p>
        </p:txBody>
      </p:sp>
      <p:sp>
        <p:nvSpPr>
          <p:cNvPr id="265" name="Google Shape;265;p28"/>
          <p:cNvSpPr txBox="1"/>
          <p:nvPr/>
        </p:nvSpPr>
        <p:spPr>
          <a:xfrm>
            <a:off x="457200" y="551579"/>
            <a:ext cx="8229600" cy="592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FF6600"/>
                </a:solidFill>
                <a:latin typeface="Calibri"/>
                <a:ea typeface="Calibri"/>
                <a:cs typeface="Calibri"/>
                <a:sym typeface="Calibri"/>
              </a:rPr>
              <a:t>MODELO</a:t>
            </a:r>
            <a:r>
              <a:rPr lang="en-US" sz="1600">
                <a:solidFill>
                  <a:schemeClr val="dk1"/>
                </a:solidFill>
                <a:latin typeface="Calibri"/>
                <a:ea typeface="Calibri"/>
                <a:cs typeface="Calibri"/>
                <a:sym typeface="Calibri"/>
              </a:rPr>
              <a:t>: BertForSequenceClassification</a:t>
            </a:r>
            <a:endParaRPr/>
          </a:p>
          <a:p>
            <a:pPr indent="0" lvl="0" marL="0" marR="0" rtl="0" algn="l">
              <a:spcBef>
                <a:spcPts val="800"/>
              </a:spcBef>
              <a:spcAft>
                <a:spcPts val="0"/>
              </a:spcAft>
              <a:buNone/>
            </a:pPr>
            <a:r>
              <a:rPr b="1" lang="en-US" sz="1600">
                <a:solidFill>
                  <a:srgbClr val="FF6600"/>
                </a:solidFill>
                <a:latin typeface="Calibri"/>
                <a:ea typeface="Calibri"/>
                <a:cs typeface="Calibri"/>
                <a:sym typeface="Calibri"/>
              </a:rPr>
              <a:t>COMPONENTES DEL MODELO</a:t>
            </a:r>
            <a:r>
              <a:rPr lang="en-US" sz="1600">
                <a:solidFill>
                  <a:srgbClr val="FF6600"/>
                </a:solidFill>
                <a:latin typeface="Calibri"/>
                <a:ea typeface="Calibri"/>
                <a:cs typeface="Calibri"/>
                <a:sym typeface="Calibri"/>
              </a:rPr>
              <a:t>:</a:t>
            </a:r>
            <a:endParaRPr sz="1600">
              <a:solidFill>
                <a:srgbClr val="FF6600"/>
              </a:solidFill>
              <a:latin typeface="Calibri"/>
              <a:ea typeface="Calibri"/>
              <a:cs typeface="Calibri"/>
              <a:sym typeface="Calibri"/>
            </a:endParaRPr>
          </a:p>
          <a:p>
            <a:pPr indent="0" lvl="0" marL="0" marR="0" rtl="0" algn="l">
              <a:spcBef>
                <a:spcPts val="800"/>
              </a:spcBef>
              <a:spcAft>
                <a:spcPts val="0"/>
              </a:spcAft>
              <a:buNone/>
            </a:pPr>
            <a:r>
              <a:rPr b="1" lang="en-US" sz="1600">
                <a:solidFill>
                  <a:srgbClr val="4A86E8"/>
                </a:solidFill>
                <a:latin typeface="Calibri"/>
                <a:ea typeface="Calibri"/>
                <a:cs typeface="Calibri"/>
                <a:sym typeface="Calibri"/>
              </a:rPr>
              <a:t>1. BERT PRE-ENTRENADO:</a:t>
            </a:r>
            <a:endParaRPr b="1">
              <a:solidFill>
                <a:srgbClr val="4A86E8"/>
              </a:solidFill>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 12 capas transformer (encoder stack)</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 768 dimensiones hidden</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 12 attention heads</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 Embeddings: token + position + segment</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b="1" lang="en-US" sz="1600">
                <a:solidFill>
                  <a:srgbClr val="4A86E8"/>
                </a:solidFill>
                <a:latin typeface="Calibri"/>
                <a:ea typeface="Calibri"/>
                <a:cs typeface="Calibri"/>
                <a:sym typeface="Calibri"/>
              </a:rPr>
              <a:t>2. POOLER:</a:t>
            </a:r>
            <a:endParaRPr b="1">
              <a:solidFill>
                <a:srgbClr val="4A86E8"/>
              </a:solidFill>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 Toma el embedding final del token [CLS]</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 Dense(768 → 768) + Tanh activation</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 Representa toda la secuencia en un vector</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b="1" lang="en-US" sz="1600">
                <a:solidFill>
                  <a:srgbClr val="4A86E8"/>
                </a:solidFill>
                <a:latin typeface="Calibri"/>
                <a:ea typeface="Calibri"/>
                <a:cs typeface="Calibri"/>
                <a:sym typeface="Calibri"/>
              </a:rPr>
              <a:t>3. CLASSIFIER (capa añadida para fine-tuning):</a:t>
            </a:r>
            <a:endParaRPr b="1">
              <a:solidFill>
                <a:srgbClr val="4A86E8"/>
              </a:solidFill>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 Linear(768 → 2)</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 Output: logits sin activación [score_neg, score_pos]</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 CrossEntropyLoss aplicado sobre logits</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PARÁMETROS TOTALES: ~110M</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PARÁMETROS ENTRENABLES: 100% (fine-tuning completo, no freezing)</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9"/>
          <p:cNvSpPr txBox="1"/>
          <p:nvPr/>
        </p:nvSpPr>
        <p:spPr>
          <a:xfrm>
            <a:off x="457200" y="274320"/>
            <a:ext cx="822960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003366"/>
                </a:solidFill>
                <a:latin typeface="Calibri"/>
                <a:ea typeface="Calibri"/>
                <a:cs typeface="Calibri"/>
                <a:sym typeface="Calibri"/>
              </a:rPr>
              <a:t>Hiperparámetros - Justificación Detallada</a:t>
            </a:r>
            <a:endParaRPr/>
          </a:p>
        </p:txBody>
      </p:sp>
      <p:sp>
        <p:nvSpPr>
          <p:cNvPr id="271" name="Google Shape;271;p29"/>
          <p:cNvSpPr txBox="1"/>
          <p:nvPr/>
        </p:nvSpPr>
        <p:spPr>
          <a:xfrm>
            <a:off x="457200" y="899109"/>
            <a:ext cx="8229600" cy="344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a:p>
            <a:pPr indent="0" lvl="0" marL="0" marR="0" rtl="0" algn="l">
              <a:spcBef>
                <a:spcPts val="800"/>
              </a:spcBef>
              <a:spcAft>
                <a:spcPts val="0"/>
              </a:spcAft>
              <a:buNone/>
            </a:pPr>
            <a:r>
              <a:rPr b="1" lang="en-US" sz="1600">
                <a:solidFill>
                  <a:srgbClr val="4A86E8"/>
                </a:solidFill>
                <a:latin typeface="Calibri"/>
                <a:ea typeface="Calibri"/>
                <a:cs typeface="Calibri"/>
                <a:sym typeface="Calibri"/>
              </a:rPr>
              <a:t>LEARNING RATE: 2e-5</a:t>
            </a:r>
            <a:endParaRPr b="1">
              <a:solidFill>
                <a:srgbClr val="4A86E8"/>
              </a:solidFill>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 Valor canónico del paper BERT para fine-tuning</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 Suficientemente bajo para preservar pre-training</a:t>
            </a:r>
            <a:endParaRPr/>
          </a:p>
          <a:p>
            <a:pPr indent="0" lvl="0" marL="0" marR="0" rtl="0" algn="l">
              <a:spcBef>
                <a:spcPts val="800"/>
              </a:spcBef>
              <a:spcAft>
                <a:spcPts val="0"/>
              </a:spcAft>
              <a:buNone/>
            </a:pPr>
            <a:r>
              <a:rPr b="1" lang="en-US" sz="1600">
                <a:solidFill>
                  <a:srgbClr val="4A86E8"/>
                </a:solidFill>
                <a:latin typeface="Calibri"/>
                <a:ea typeface="Calibri"/>
                <a:cs typeface="Calibri"/>
                <a:sym typeface="Calibri"/>
              </a:rPr>
              <a:t>EPOCHS: 3</a:t>
            </a:r>
            <a:endParaRPr b="1">
              <a:solidFill>
                <a:srgbClr val="4A86E8"/>
              </a:solidFill>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 Paper BERT: 2-4 épocas óptimo</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 Más épocas → overfitting en datasets medianos</a:t>
            </a:r>
            <a:endParaRPr/>
          </a:p>
          <a:p>
            <a:pPr indent="0" lvl="0" marL="0" marR="0" rtl="0" algn="l">
              <a:spcBef>
                <a:spcPts val="800"/>
              </a:spcBef>
              <a:spcAft>
                <a:spcPts val="0"/>
              </a:spcAft>
              <a:buNone/>
            </a:pPr>
            <a:r>
              <a:rPr b="1" lang="en-US" sz="1600">
                <a:solidFill>
                  <a:srgbClr val="4A86E8"/>
                </a:solidFill>
                <a:latin typeface="Calibri"/>
                <a:ea typeface="Calibri"/>
                <a:cs typeface="Calibri"/>
                <a:sym typeface="Calibri"/>
              </a:rPr>
              <a:t>BATCH SIZE: 32</a:t>
            </a:r>
            <a:endParaRPr b="1">
              <a:solidFill>
                <a:srgbClr val="4A86E8"/>
              </a:solidFill>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 Recomendación BERT: 16 o 32</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 40,000 samples / 32 = 1,250 batches por época</a:t>
            </a:r>
            <a:endParaRPr/>
          </a:p>
        </p:txBody>
      </p:sp>
      <p:pic>
        <p:nvPicPr>
          <p:cNvPr id="272" name="Google Shape;272;p29"/>
          <p:cNvPicPr preferRelativeResize="0"/>
          <p:nvPr/>
        </p:nvPicPr>
        <p:blipFill>
          <a:blip r:embed="rId3">
            <a:alphaModFix/>
          </a:blip>
          <a:stretch>
            <a:fillRect/>
          </a:stretch>
        </p:blipFill>
        <p:spPr>
          <a:xfrm>
            <a:off x="5693050" y="1041152"/>
            <a:ext cx="3046625" cy="1804500"/>
          </a:xfrm>
          <a:prstGeom prst="rect">
            <a:avLst/>
          </a:prstGeom>
          <a:noFill/>
          <a:ln>
            <a:noFill/>
          </a:ln>
        </p:spPr>
      </p:pic>
      <p:pic>
        <p:nvPicPr>
          <p:cNvPr id="273" name="Google Shape;273;p29"/>
          <p:cNvPicPr preferRelativeResize="0"/>
          <p:nvPr/>
        </p:nvPicPr>
        <p:blipFill>
          <a:blip r:embed="rId4">
            <a:alphaModFix/>
          </a:blip>
          <a:stretch>
            <a:fillRect/>
          </a:stretch>
        </p:blipFill>
        <p:spPr>
          <a:xfrm>
            <a:off x="5661115" y="2880952"/>
            <a:ext cx="3091475" cy="6494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0"/>
          <p:cNvSpPr txBox="1"/>
          <p:nvPr/>
        </p:nvSpPr>
        <p:spPr>
          <a:xfrm>
            <a:off x="457200" y="274320"/>
            <a:ext cx="82296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003366"/>
                </a:solidFill>
                <a:latin typeface="Calibri"/>
                <a:ea typeface="Calibri"/>
                <a:cs typeface="Calibri"/>
                <a:sym typeface="Calibri"/>
              </a:rPr>
              <a:t>Optimizer</a:t>
            </a:r>
            <a:endParaRPr/>
          </a:p>
        </p:txBody>
      </p:sp>
      <p:sp>
        <p:nvSpPr>
          <p:cNvPr id="279" name="Google Shape;279;p30"/>
          <p:cNvSpPr txBox="1"/>
          <p:nvPr/>
        </p:nvSpPr>
        <p:spPr>
          <a:xfrm>
            <a:off x="457200" y="892673"/>
            <a:ext cx="8229600" cy="2401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OPTIMIZER: AdamW</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AdamW = Adam + Weight Decay (regularización L2 desacoplada)</a:t>
            </a:r>
            <a:endParaRPr/>
          </a:p>
          <a:p>
            <a:pPr indent="0" lvl="0" marL="0" marR="0" rtl="0" algn="l">
              <a:spcBef>
                <a:spcPts val="800"/>
              </a:spcBef>
              <a:spcAft>
                <a:spcPts val="0"/>
              </a:spcAft>
              <a:buNone/>
            </a:pPr>
            <a:r>
              <a:rPr b="1" lang="en-US" sz="1600">
                <a:solidFill>
                  <a:srgbClr val="4A86E8"/>
                </a:solidFill>
                <a:latin typeface="Calibri"/>
                <a:ea typeface="Calibri"/>
                <a:cs typeface="Calibri"/>
                <a:sym typeface="Calibri"/>
              </a:rPr>
              <a:t>Parámetros:</a:t>
            </a:r>
            <a:endParaRPr b="1">
              <a:solidFill>
                <a:srgbClr val="4A86E8"/>
              </a:solidFill>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lr = 2e-5</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eps = 1e-8 (estabilidad numérica)</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weight_decay implícito en AdamW</a:t>
            </a:r>
            <a:endParaRPr/>
          </a:p>
          <a:p>
            <a:pPr indent="0" lvl="0" marL="0" marR="0" rtl="0" algn="l">
              <a:spcBef>
                <a:spcPts val="800"/>
              </a:spcBef>
              <a:spcAft>
                <a:spcPts val="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3" name="Shape 283"/>
        <p:cNvGrpSpPr/>
        <p:nvPr/>
      </p:nvGrpSpPr>
      <p:grpSpPr>
        <a:xfrm>
          <a:off x="0" y="0"/>
          <a:ext cx="0" cy="0"/>
          <a:chOff x="0" y="0"/>
          <a:chExt cx="0" cy="0"/>
        </a:xfrm>
      </p:grpSpPr>
      <p:sp>
        <p:nvSpPr>
          <p:cNvPr id="284" name="Google Shape;284;p31"/>
          <p:cNvSpPr txBox="1"/>
          <p:nvPr/>
        </p:nvSpPr>
        <p:spPr>
          <a:xfrm>
            <a:off x="457200" y="274320"/>
            <a:ext cx="82296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003366"/>
                </a:solidFill>
                <a:latin typeface="Calibri"/>
                <a:ea typeface="Calibri"/>
                <a:cs typeface="Calibri"/>
                <a:sym typeface="Calibri"/>
              </a:rPr>
              <a:t>Proceso de Fine-Tuning Detallado (03_train_model.py)</a:t>
            </a:r>
            <a:endParaRPr/>
          </a:p>
        </p:txBody>
      </p:sp>
      <p:sp>
        <p:nvSpPr>
          <p:cNvPr id="285" name="Google Shape;285;p31"/>
          <p:cNvSpPr txBox="1"/>
          <p:nvPr/>
        </p:nvSpPr>
        <p:spPr>
          <a:xfrm>
            <a:off x="457200" y="913375"/>
            <a:ext cx="8229600" cy="5161500"/>
          </a:xfrm>
          <a:prstGeom prst="rect">
            <a:avLst/>
          </a:prstGeom>
          <a:noFill/>
          <a:ln>
            <a:noFill/>
          </a:ln>
        </p:spPr>
        <p:txBody>
          <a:bodyPr anchorCtr="0" anchor="t" bIns="45700" lIns="91425" spcFirstLastPara="1" rIns="91425" wrap="square" tIns="45700">
            <a:spAutoFit/>
          </a:bodyPr>
          <a:lstStyle/>
          <a:p>
            <a:pPr indent="0" lvl="0" marL="0" marR="0" rtl="0" algn="l">
              <a:spcBef>
                <a:spcPts val="800"/>
              </a:spcBef>
              <a:spcAft>
                <a:spcPts val="0"/>
              </a:spcAft>
              <a:buNone/>
            </a:pPr>
            <a:r>
              <a:rPr lang="en-US" sz="1200">
                <a:solidFill>
                  <a:schemeClr val="dk1"/>
                </a:solidFill>
                <a:latin typeface="Calibri"/>
                <a:ea typeface="Calibri"/>
                <a:cs typeface="Calibri"/>
                <a:sym typeface="Calibri"/>
              </a:rPr>
              <a:t>POR CADA ÉPOCA:</a:t>
            </a:r>
            <a:endParaRPr sz="1200"/>
          </a:p>
          <a:p>
            <a:pPr indent="0" lvl="0" marL="0" marR="0" rtl="0" algn="l">
              <a:spcBef>
                <a:spcPts val="800"/>
              </a:spcBef>
              <a:spcAft>
                <a:spcPts val="0"/>
              </a:spcAft>
              <a:buNone/>
            </a:pPr>
            <a:r>
              <a:rPr lang="en-US" sz="1200">
                <a:solidFill>
                  <a:schemeClr val="dk1"/>
                </a:solidFill>
                <a:latin typeface="Calibri"/>
                <a:ea typeface="Calibri"/>
                <a:cs typeface="Calibri"/>
                <a:sym typeface="Calibri"/>
              </a:rPr>
              <a:t>  1. Modo entrenamiento: model.train()</a:t>
            </a:r>
            <a:endParaRPr sz="1200"/>
          </a:p>
          <a:p>
            <a:pPr indent="0" lvl="0" marL="0" marR="0" rtl="0" algn="l">
              <a:spcBef>
                <a:spcPts val="800"/>
              </a:spcBef>
              <a:spcAft>
                <a:spcPts val="0"/>
              </a:spcAft>
              <a:buNone/>
            </a:pPr>
            <a:r>
              <a:rPr lang="en-US" sz="1200">
                <a:solidFill>
                  <a:schemeClr val="dk1"/>
                </a:solidFill>
                <a:latin typeface="Calibri"/>
                <a:ea typeface="Calibri"/>
                <a:cs typeface="Calibri"/>
                <a:sym typeface="Calibri"/>
              </a:rPr>
              <a:t>POR CADA BATCH:</a:t>
            </a:r>
            <a:endParaRPr sz="1200"/>
          </a:p>
          <a:p>
            <a:pPr indent="0" lvl="0" marL="0" marR="0" rtl="0" algn="l">
              <a:spcBef>
                <a:spcPts val="800"/>
              </a:spcBef>
              <a:spcAft>
                <a:spcPts val="0"/>
              </a:spcAft>
              <a:buNone/>
            </a:pPr>
            <a:r>
              <a:rPr lang="en-US" sz="1200">
                <a:solidFill>
                  <a:schemeClr val="dk1"/>
                </a:solidFill>
                <a:latin typeface="Calibri"/>
                <a:ea typeface="Calibri"/>
                <a:cs typeface="Calibri"/>
                <a:sym typeface="Calibri"/>
              </a:rPr>
              <a:t>    a. Cargar batch desde DataLoader (input_ids, attention_mask, labels)</a:t>
            </a:r>
            <a:endParaRPr sz="1200"/>
          </a:p>
          <a:p>
            <a:pPr indent="0" lvl="0" marL="0" marR="0" rtl="0" algn="l">
              <a:spcBef>
                <a:spcPts val="800"/>
              </a:spcBef>
              <a:spcAft>
                <a:spcPts val="0"/>
              </a:spcAft>
              <a:buNone/>
            </a:pPr>
            <a:r>
              <a:rPr lang="en-US" sz="1200">
                <a:solidFill>
                  <a:schemeClr val="dk1"/>
                </a:solidFill>
                <a:latin typeface="Calibri"/>
                <a:ea typeface="Calibri"/>
                <a:cs typeface="Calibri"/>
                <a:sym typeface="Calibri"/>
              </a:rPr>
              <a:t>    b. Mover tensores a GPU (.to(device))</a:t>
            </a:r>
            <a:endParaRPr sz="1200"/>
          </a:p>
          <a:p>
            <a:pPr indent="0" lvl="0" marL="0" marR="0" rtl="0" algn="l">
              <a:spcBef>
                <a:spcPts val="800"/>
              </a:spcBef>
              <a:spcAft>
                <a:spcPts val="0"/>
              </a:spcAft>
              <a:buNone/>
            </a:pPr>
            <a:r>
              <a:rPr lang="en-US" sz="1200">
                <a:solidFill>
                  <a:schemeClr val="dk1"/>
                </a:solidFill>
                <a:latin typeface="Calibri"/>
                <a:ea typeface="Calibri"/>
                <a:cs typeface="Calibri"/>
                <a:sym typeface="Calibri"/>
              </a:rPr>
              <a:t>    c. Zero gradients: model.zero_grad()</a:t>
            </a:r>
            <a:endParaRPr sz="1200"/>
          </a:p>
          <a:p>
            <a:pPr indent="0" lvl="0" marL="0" marR="0" rtl="0" algn="l">
              <a:spcBef>
                <a:spcPts val="800"/>
              </a:spcBef>
              <a:spcAft>
                <a:spcPts val="0"/>
              </a:spcAft>
              <a:buNone/>
            </a:pPr>
            <a:r>
              <a:rPr lang="en-US" sz="1200">
                <a:solidFill>
                  <a:schemeClr val="dk1"/>
                </a:solidFill>
                <a:latin typeface="Calibri"/>
                <a:ea typeface="Calibri"/>
                <a:cs typeface="Calibri"/>
                <a:sym typeface="Calibri"/>
              </a:rPr>
              <a:t>    d. Forward pass:</a:t>
            </a:r>
            <a:endParaRPr sz="1200"/>
          </a:p>
          <a:p>
            <a:pPr indent="0" lvl="0" marL="0" marR="0" rtl="0" algn="l">
              <a:spcBef>
                <a:spcPts val="800"/>
              </a:spcBef>
              <a:spcAft>
                <a:spcPts val="0"/>
              </a:spcAft>
              <a:buNone/>
            </a:pPr>
            <a:r>
              <a:rPr lang="en-US" sz="1200">
                <a:solidFill>
                  <a:schemeClr val="dk1"/>
                </a:solidFill>
                <a:latin typeface="Calibri"/>
                <a:ea typeface="Calibri"/>
                <a:cs typeface="Calibri"/>
                <a:sym typeface="Calibri"/>
              </a:rPr>
              <a:t>       outputs = model(input_ids, attention_mask, labels)</a:t>
            </a:r>
            <a:endParaRPr sz="1200"/>
          </a:p>
          <a:p>
            <a:pPr indent="0" lvl="0" marL="0" marR="0" rtl="0" algn="l">
              <a:spcBef>
                <a:spcPts val="800"/>
              </a:spcBef>
              <a:spcAft>
                <a:spcPts val="0"/>
              </a:spcAft>
              <a:buNone/>
            </a:pPr>
            <a:r>
              <a:rPr lang="en-US" sz="1200">
                <a:solidFill>
                  <a:schemeClr val="dk1"/>
                </a:solidFill>
                <a:latin typeface="Calibri"/>
                <a:ea typeface="Calibri"/>
                <a:cs typeface="Calibri"/>
                <a:sym typeface="Calibri"/>
              </a:rPr>
              <a:t>       loss = outputs.loss  (CrossEntropy calculada internamente)</a:t>
            </a:r>
            <a:endParaRPr sz="1200"/>
          </a:p>
          <a:p>
            <a:pPr indent="0" lvl="0" marL="0" marR="0" rtl="0" algn="l">
              <a:spcBef>
                <a:spcPts val="800"/>
              </a:spcBef>
              <a:spcAft>
                <a:spcPts val="0"/>
              </a:spcAft>
              <a:buNone/>
            </a:pPr>
            <a:r>
              <a:rPr lang="en-US" sz="1200">
                <a:solidFill>
                  <a:schemeClr val="dk1"/>
                </a:solidFill>
                <a:latin typeface="Calibri"/>
                <a:ea typeface="Calibri"/>
                <a:cs typeface="Calibri"/>
                <a:sym typeface="Calibri"/>
              </a:rPr>
              <a:t>    e. Backward pass: loss.backward()</a:t>
            </a:r>
            <a:endParaRPr sz="1200"/>
          </a:p>
          <a:p>
            <a:pPr indent="0" lvl="0" marL="0" marR="0" rtl="0" algn="l">
              <a:spcBef>
                <a:spcPts val="800"/>
              </a:spcBef>
              <a:spcAft>
                <a:spcPts val="0"/>
              </a:spcAft>
              <a:buNone/>
            </a:pPr>
            <a:r>
              <a:rPr lang="en-US" sz="1200">
                <a:solidFill>
                  <a:schemeClr val="dk1"/>
                </a:solidFill>
                <a:latin typeface="Calibri"/>
                <a:ea typeface="Calibri"/>
                <a:cs typeface="Calibri"/>
                <a:sym typeface="Calibri"/>
              </a:rPr>
              <a:t>    f. Gradient clipping: clip_grad_norm_(parameters, max_norm=1.0)</a:t>
            </a:r>
            <a:endParaRPr sz="1200"/>
          </a:p>
          <a:p>
            <a:pPr indent="0" lvl="0" marL="0" marR="0" rtl="0" algn="l">
              <a:spcBef>
                <a:spcPts val="800"/>
              </a:spcBef>
              <a:spcAft>
                <a:spcPts val="0"/>
              </a:spcAft>
              <a:buNone/>
            </a:pPr>
            <a:r>
              <a:rPr lang="en-US" sz="1200">
                <a:solidFill>
                  <a:schemeClr val="dk1"/>
                </a:solidFill>
                <a:latin typeface="Calibri"/>
                <a:ea typeface="Calibri"/>
                <a:cs typeface="Calibri"/>
                <a:sym typeface="Calibri"/>
              </a:rPr>
              <a:t>       → Evita exploding gradients</a:t>
            </a:r>
            <a:endParaRPr sz="1200"/>
          </a:p>
          <a:p>
            <a:pPr indent="0" lvl="0" marL="0" marR="0" rtl="0" algn="l">
              <a:spcBef>
                <a:spcPts val="800"/>
              </a:spcBef>
              <a:spcAft>
                <a:spcPts val="0"/>
              </a:spcAft>
              <a:buNone/>
            </a:pPr>
            <a:r>
              <a:rPr lang="en-US" sz="1200">
                <a:solidFill>
                  <a:schemeClr val="dk1"/>
                </a:solidFill>
                <a:latin typeface="Calibri"/>
                <a:ea typeface="Calibri"/>
                <a:cs typeface="Calibri"/>
                <a:sym typeface="Calibri"/>
              </a:rPr>
              <a:t>    g. Optimizer step: optimizer.step()</a:t>
            </a:r>
            <a:endParaRPr sz="1200"/>
          </a:p>
          <a:p>
            <a:pPr indent="0" lvl="0" marL="0" marR="0" rtl="0" algn="l">
              <a:spcBef>
                <a:spcPts val="800"/>
              </a:spcBef>
              <a:spcAft>
                <a:spcPts val="0"/>
              </a:spcAft>
              <a:buNone/>
            </a:pPr>
            <a:r>
              <a:rPr lang="en-US" sz="1200">
                <a:solidFill>
                  <a:schemeClr val="dk1"/>
                </a:solidFill>
                <a:latin typeface="Calibri"/>
                <a:ea typeface="Calibri"/>
                <a:cs typeface="Calibri"/>
                <a:sym typeface="Calibri"/>
              </a:rPr>
              <a:t>    h. Scheduler step: scheduler.step()</a:t>
            </a:r>
            <a:endParaRPr sz="1200"/>
          </a:p>
          <a:p>
            <a:pPr indent="0" lvl="0" marL="0" marR="0" rtl="0" algn="l">
              <a:spcBef>
                <a:spcPts val="800"/>
              </a:spcBef>
              <a:spcAft>
                <a:spcPts val="0"/>
              </a:spcAft>
              <a:buNone/>
            </a:pPr>
            <a:r>
              <a:rPr lang="en-US" sz="1200">
                <a:solidFill>
                  <a:schemeClr val="dk1"/>
                </a:solidFill>
                <a:latin typeface="Calibri"/>
                <a:ea typeface="Calibri"/>
                <a:cs typeface="Calibri"/>
                <a:sym typeface="Calibri"/>
              </a:rPr>
              <a:t>  2. VALIDACIÓN al final de cada época:</a:t>
            </a:r>
            <a:endParaRPr sz="1200"/>
          </a:p>
          <a:p>
            <a:pPr indent="0" lvl="0" marL="0" marR="0" rtl="0" algn="l">
              <a:spcBef>
                <a:spcPts val="800"/>
              </a:spcBef>
              <a:spcAft>
                <a:spcPts val="0"/>
              </a:spcAft>
              <a:buNone/>
            </a:pPr>
            <a:r>
              <a:rPr lang="en-US" sz="1200">
                <a:solidFill>
                  <a:schemeClr val="dk1"/>
                </a:solidFill>
                <a:latin typeface="Calibri"/>
                <a:ea typeface="Calibri"/>
                <a:cs typeface="Calibri"/>
                <a:sym typeface="Calibri"/>
              </a:rPr>
              <a:t>     model.eval() + torch.no_grad()</a:t>
            </a:r>
            <a:endParaRPr sz="1200"/>
          </a:p>
          <a:p>
            <a:pPr indent="0" lvl="0" marL="0" marR="0" rtl="0" algn="l">
              <a:spcBef>
                <a:spcPts val="800"/>
              </a:spcBef>
              <a:spcAft>
                <a:spcPts val="0"/>
              </a:spcAft>
              <a:buNone/>
            </a:pPr>
            <a:r>
              <a:rPr lang="en-US" sz="1200">
                <a:solidFill>
                  <a:schemeClr val="dk1"/>
                </a:solidFill>
                <a:latin typeface="Calibri"/>
                <a:ea typeface="Calibri"/>
                <a:cs typeface="Calibri"/>
                <a:sym typeface="Calibri"/>
              </a:rPr>
              <a:t>     Calcular val_loss y val_accuracy</a:t>
            </a:r>
            <a:endParaRPr sz="1200"/>
          </a:p>
          <a:p>
            <a:pPr indent="0" lvl="0" marL="0" marR="0" rtl="0" algn="l">
              <a:spcBef>
                <a:spcPts val="800"/>
              </a:spcBef>
              <a:spcAft>
                <a:spcPts val="0"/>
              </a:spcAft>
              <a:buNone/>
            </a:pPr>
            <a:r>
              <a:rPr lang="en-US" sz="1200">
                <a:solidFill>
                  <a:schemeClr val="dk1"/>
                </a:solidFill>
                <a:latin typeface="Calibri"/>
                <a:ea typeface="Calibri"/>
                <a:cs typeface="Calibri"/>
                <a:sym typeface="Calibri"/>
              </a:rPr>
              <a:t>  3. Guardar training stats (época, train_loss, val_loss, val_acc)</a:t>
            </a:r>
            <a:endParaRPr sz="12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2"/>
          <p:cNvSpPr txBox="1"/>
          <p:nvPr/>
        </p:nvSpPr>
        <p:spPr>
          <a:xfrm>
            <a:off x="457200" y="274320"/>
            <a:ext cx="822960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003366"/>
                </a:solidFill>
                <a:latin typeface="Calibri"/>
                <a:ea typeface="Calibri"/>
                <a:cs typeface="Calibri"/>
                <a:sym typeface="Calibri"/>
              </a:rPr>
              <a:t>Resultados de Entrenamiento</a:t>
            </a:r>
            <a:endParaRPr/>
          </a:p>
        </p:txBody>
      </p:sp>
      <p:sp>
        <p:nvSpPr>
          <p:cNvPr id="291" name="Google Shape;291;p32"/>
          <p:cNvSpPr txBox="1"/>
          <p:nvPr/>
        </p:nvSpPr>
        <p:spPr>
          <a:xfrm>
            <a:off x="457200" y="937720"/>
            <a:ext cx="8229600" cy="5161500"/>
          </a:xfrm>
          <a:prstGeom prst="rect">
            <a:avLst/>
          </a:prstGeom>
          <a:noFill/>
          <a:ln>
            <a:noFill/>
          </a:ln>
        </p:spPr>
        <p:txBody>
          <a:bodyPr anchorCtr="0" anchor="t" bIns="45700" lIns="91425" spcFirstLastPara="1" rIns="91425" wrap="square" tIns="45700">
            <a:spAutoFit/>
          </a:bodyPr>
          <a:lstStyle/>
          <a:p>
            <a:pPr indent="0" lvl="0" marL="0" marR="0" rtl="0" algn="l">
              <a:spcBef>
                <a:spcPts val="800"/>
              </a:spcBef>
              <a:spcAft>
                <a:spcPts val="0"/>
              </a:spcAft>
              <a:buNone/>
            </a:pPr>
            <a:r>
              <a:rPr b="1" lang="en-US" sz="1600">
                <a:solidFill>
                  <a:srgbClr val="4A86E8"/>
                </a:solidFill>
                <a:latin typeface="Calibri"/>
                <a:ea typeface="Calibri"/>
                <a:cs typeface="Calibri"/>
                <a:sym typeface="Calibri"/>
              </a:rPr>
              <a:t>ÉPOCA 1:</a:t>
            </a:r>
            <a:endParaRPr b="1" sz="1600">
              <a:solidFill>
                <a:srgbClr val="4A86E8"/>
              </a:solidFill>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Train Loss: 0.2845</a:t>
            </a:r>
            <a:endParaRPr sz="1600"/>
          </a:p>
          <a:p>
            <a:pPr indent="0" lvl="0" marL="0" marR="0" rtl="0" algn="l">
              <a:spcBef>
                <a:spcPts val="800"/>
              </a:spcBef>
              <a:spcAft>
                <a:spcPts val="0"/>
              </a:spcAft>
              <a:buNone/>
            </a:pPr>
            <a:r>
              <a:rPr lang="en-US" sz="1600">
                <a:solidFill>
                  <a:schemeClr val="dk1"/>
                </a:solidFill>
                <a:latin typeface="Calibri"/>
                <a:ea typeface="Calibri"/>
                <a:cs typeface="Calibri"/>
                <a:sym typeface="Calibri"/>
              </a:rPr>
              <a:t>• Val Loss: 0.2156</a:t>
            </a:r>
            <a:endParaRPr sz="1600"/>
          </a:p>
          <a:p>
            <a:pPr indent="0" lvl="0" marL="0" marR="0" rtl="0" algn="l">
              <a:spcBef>
                <a:spcPts val="800"/>
              </a:spcBef>
              <a:spcAft>
                <a:spcPts val="0"/>
              </a:spcAft>
              <a:buNone/>
            </a:pPr>
            <a:r>
              <a:rPr lang="en-US" sz="1600">
                <a:solidFill>
                  <a:schemeClr val="dk1"/>
                </a:solidFill>
                <a:latin typeface="Calibri"/>
                <a:ea typeface="Calibri"/>
                <a:cs typeface="Calibri"/>
                <a:sym typeface="Calibri"/>
              </a:rPr>
              <a:t>• Val Accuracy: 91.2%</a:t>
            </a:r>
            <a:endParaRPr sz="1600"/>
          </a:p>
          <a:p>
            <a:pPr indent="0" lvl="0" marL="0" marR="0" rtl="0" algn="l">
              <a:spcBef>
                <a:spcPts val="80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b="1" lang="en-US" sz="1600">
                <a:solidFill>
                  <a:srgbClr val="4A86E8"/>
                </a:solidFill>
                <a:latin typeface="Calibri"/>
                <a:ea typeface="Calibri"/>
                <a:cs typeface="Calibri"/>
                <a:sym typeface="Calibri"/>
              </a:rPr>
              <a:t>ÉPOCA 2:</a:t>
            </a:r>
            <a:endParaRPr b="1" sz="1600">
              <a:solidFill>
                <a:srgbClr val="4A86E8"/>
              </a:solidFill>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Train Loss: 0.1523</a:t>
            </a:r>
            <a:endParaRPr sz="1600"/>
          </a:p>
          <a:p>
            <a:pPr indent="0" lvl="0" marL="0" marR="0" rtl="0" algn="l">
              <a:spcBef>
                <a:spcPts val="800"/>
              </a:spcBef>
              <a:spcAft>
                <a:spcPts val="0"/>
              </a:spcAft>
              <a:buNone/>
            </a:pPr>
            <a:r>
              <a:rPr lang="en-US" sz="1600">
                <a:solidFill>
                  <a:schemeClr val="dk1"/>
                </a:solidFill>
                <a:latin typeface="Calibri"/>
                <a:ea typeface="Calibri"/>
                <a:cs typeface="Calibri"/>
                <a:sym typeface="Calibri"/>
              </a:rPr>
              <a:t>• Val Loss: 0.2201</a:t>
            </a:r>
            <a:endParaRPr sz="1600"/>
          </a:p>
          <a:p>
            <a:pPr indent="0" lvl="0" marL="0" marR="0" rtl="0" algn="l">
              <a:spcBef>
                <a:spcPts val="800"/>
              </a:spcBef>
              <a:spcAft>
                <a:spcPts val="0"/>
              </a:spcAft>
              <a:buNone/>
            </a:pPr>
            <a:r>
              <a:rPr lang="en-US" sz="1600">
                <a:solidFill>
                  <a:schemeClr val="dk1"/>
                </a:solidFill>
                <a:latin typeface="Calibri"/>
                <a:ea typeface="Calibri"/>
                <a:cs typeface="Calibri"/>
                <a:sym typeface="Calibri"/>
              </a:rPr>
              <a:t>• Val Accuracy: 92.1%  ← MEJOR</a:t>
            </a:r>
            <a:endParaRPr sz="1600"/>
          </a:p>
          <a:p>
            <a:pPr indent="0" lvl="0" marL="0" marR="0" rtl="0" algn="l">
              <a:spcBef>
                <a:spcPts val="80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b="1" lang="en-US" sz="1600">
                <a:solidFill>
                  <a:srgbClr val="4A86E8"/>
                </a:solidFill>
                <a:latin typeface="Calibri"/>
                <a:ea typeface="Calibri"/>
                <a:cs typeface="Calibri"/>
                <a:sym typeface="Calibri"/>
              </a:rPr>
              <a:t>ÉPOCA 3:</a:t>
            </a:r>
            <a:endParaRPr b="1" sz="1600">
              <a:solidFill>
                <a:srgbClr val="4A86E8"/>
              </a:solidFill>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Train Loss: 0.0843  (sigue bajando)</a:t>
            </a:r>
            <a:endParaRPr sz="1600"/>
          </a:p>
          <a:p>
            <a:pPr indent="0" lvl="0" marL="0" marR="0" rtl="0" algn="l">
              <a:spcBef>
                <a:spcPts val="800"/>
              </a:spcBef>
              <a:spcAft>
                <a:spcPts val="0"/>
              </a:spcAft>
              <a:buNone/>
            </a:pPr>
            <a:r>
              <a:rPr lang="en-US" sz="1600">
                <a:solidFill>
                  <a:schemeClr val="dk1"/>
                </a:solidFill>
                <a:latin typeface="Calibri"/>
                <a:ea typeface="Calibri"/>
                <a:cs typeface="Calibri"/>
                <a:sym typeface="Calibri"/>
              </a:rPr>
              <a:t>• Val Loss: 0.2498  (empieza a subir → overfitting)</a:t>
            </a:r>
            <a:endParaRPr sz="1600"/>
          </a:p>
          <a:p>
            <a:pPr indent="0" lvl="0" marL="0" marR="0" rtl="0" algn="l">
              <a:spcBef>
                <a:spcPts val="800"/>
              </a:spcBef>
              <a:spcAft>
                <a:spcPts val="0"/>
              </a:spcAft>
              <a:buNone/>
            </a:pPr>
            <a:r>
              <a:rPr lang="en-US" sz="1600">
                <a:solidFill>
                  <a:schemeClr val="dk1"/>
                </a:solidFill>
                <a:latin typeface="Calibri"/>
                <a:ea typeface="Calibri"/>
                <a:cs typeface="Calibri"/>
                <a:sym typeface="Calibri"/>
              </a:rPr>
              <a:t>• Val Accuracy: 91.8%</a:t>
            </a:r>
            <a:endParaRPr sz="1600"/>
          </a:p>
          <a:p>
            <a:pPr indent="0" lvl="0" marL="0" marR="0" rtl="0" algn="l">
              <a:spcBef>
                <a:spcPts val="800"/>
              </a:spcBef>
              <a:spcAft>
                <a:spcPts val="0"/>
              </a:spcAft>
              <a:buNone/>
            </a:pPr>
            <a:r>
              <a:t/>
            </a:r>
            <a:endParaRPr sz="12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pic>
        <p:nvPicPr>
          <p:cNvPr id="296" name="Google Shape;296;g3c9478fcecd_0_0" title="confusion_matrix.png"/>
          <p:cNvPicPr preferRelativeResize="0"/>
          <p:nvPr/>
        </p:nvPicPr>
        <p:blipFill>
          <a:blip r:embed="rId3">
            <a:alphaModFix/>
          </a:blip>
          <a:stretch>
            <a:fillRect/>
          </a:stretch>
        </p:blipFill>
        <p:spPr>
          <a:xfrm>
            <a:off x="245301" y="165775"/>
            <a:ext cx="4474974" cy="3356226"/>
          </a:xfrm>
          <a:prstGeom prst="rect">
            <a:avLst/>
          </a:prstGeom>
          <a:noFill/>
          <a:ln>
            <a:noFill/>
          </a:ln>
        </p:spPr>
      </p:pic>
      <p:pic>
        <p:nvPicPr>
          <p:cNvPr id="297" name="Google Shape;297;g3c9478fcecd_0_0" title="training_loss.png"/>
          <p:cNvPicPr preferRelativeResize="0"/>
          <p:nvPr/>
        </p:nvPicPr>
        <p:blipFill>
          <a:blip r:embed="rId4">
            <a:alphaModFix/>
          </a:blip>
          <a:stretch>
            <a:fillRect/>
          </a:stretch>
        </p:blipFill>
        <p:spPr>
          <a:xfrm>
            <a:off x="2931775" y="3691625"/>
            <a:ext cx="6015951" cy="3007976"/>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1" name="Shape 301"/>
        <p:cNvGrpSpPr/>
        <p:nvPr/>
      </p:nvGrpSpPr>
      <p:grpSpPr>
        <a:xfrm>
          <a:off x="0" y="0"/>
          <a:ext cx="0" cy="0"/>
          <a:chOff x="0" y="0"/>
          <a:chExt cx="0" cy="0"/>
        </a:xfrm>
      </p:grpSpPr>
      <p:sp>
        <p:nvSpPr>
          <p:cNvPr id="302" name="Google Shape;302;p33"/>
          <p:cNvSpPr txBox="1"/>
          <p:nvPr/>
        </p:nvSpPr>
        <p:spPr>
          <a:xfrm>
            <a:off x="457200" y="274320"/>
            <a:ext cx="822960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003366"/>
                </a:solidFill>
                <a:latin typeface="Calibri"/>
                <a:ea typeface="Calibri"/>
                <a:cs typeface="Calibri"/>
                <a:sym typeface="Calibri"/>
              </a:rPr>
              <a:t>Análisis de Curvas de Pérdida</a:t>
            </a:r>
            <a:endParaRPr/>
          </a:p>
        </p:txBody>
      </p:sp>
      <p:sp>
        <p:nvSpPr>
          <p:cNvPr id="303" name="Google Shape;303;p33"/>
          <p:cNvSpPr txBox="1"/>
          <p:nvPr/>
        </p:nvSpPr>
        <p:spPr>
          <a:xfrm>
            <a:off x="457200" y="1188720"/>
            <a:ext cx="8229600" cy="5223000"/>
          </a:xfrm>
          <a:prstGeom prst="rect">
            <a:avLst/>
          </a:prstGeom>
          <a:noFill/>
          <a:ln>
            <a:noFill/>
          </a:ln>
        </p:spPr>
        <p:txBody>
          <a:bodyPr anchorCtr="0" anchor="t" bIns="45700" lIns="91425" spcFirstLastPara="1" rIns="91425" wrap="square" tIns="45700">
            <a:spAutoFit/>
          </a:bodyPr>
          <a:lstStyle/>
          <a:p>
            <a:pPr indent="0" lvl="0" marL="0" marR="0" rtl="0" algn="l">
              <a:spcBef>
                <a:spcPts val="800"/>
              </a:spcBef>
              <a:spcAft>
                <a:spcPts val="0"/>
              </a:spcAft>
              <a:buNone/>
            </a:pPr>
            <a:r>
              <a:rPr b="1" lang="en-US" sz="1600">
                <a:solidFill>
                  <a:srgbClr val="4A86E8"/>
                </a:solidFill>
                <a:latin typeface="Calibri"/>
                <a:ea typeface="Calibri"/>
                <a:cs typeface="Calibri"/>
                <a:sym typeface="Calibri"/>
              </a:rPr>
              <a:t>TRAIN LOSS:</a:t>
            </a:r>
            <a:endParaRPr b="1">
              <a:solidFill>
                <a:srgbClr val="4A86E8"/>
              </a:solidFill>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Disminuye monótonamente: 0.28 → 0.15 → 0.08</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Modelo aprende bien los datos de entrenamiento</a:t>
            </a:r>
            <a:endParaRPr/>
          </a:p>
          <a:p>
            <a:pPr indent="0" lvl="0" marL="0" marR="0" rtl="0" algn="l">
              <a:spcBef>
                <a:spcPts val="800"/>
              </a:spcBef>
              <a:spcAft>
                <a:spcPts val="0"/>
              </a:spcAft>
              <a:buNone/>
            </a:pPr>
            <a:r>
              <a:rPr b="1" lang="en-US" sz="1600">
                <a:solidFill>
                  <a:srgbClr val="4A86E8"/>
                </a:solidFill>
                <a:latin typeface="Calibri"/>
                <a:ea typeface="Calibri"/>
                <a:cs typeface="Calibri"/>
                <a:sym typeface="Calibri"/>
              </a:rPr>
              <a:t>VAL LOSS:</a:t>
            </a:r>
            <a:endParaRPr b="1">
              <a:solidFill>
                <a:srgbClr val="4A86E8"/>
              </a:solidFill>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Época 1→2: mejora (0.216 → 0.220)</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Época 2→3: empeora (0.220 → 0.250)</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Señal clara de overfitting comenzando en época 3</a:t>
            </a:r>
            <a:endParaRPr/>
          </a:p>
          <a:p>
            <a:pPr indent="0" lvl="0" marL="0" marR="0" rtl="0" algn="l">
              <a:spcBef>
                <a:spcPts val="800"/>
              </a:spcBef>
              <a:spcAft>
                <a:spcPts val="0"/>
              </a:spcAft>
              <a:buNone/>
            </a:pPr>
            <a:r>
              <a:rPr b="1" lang="en-US" sz="1600">
                <a:solidFill>
                  <a:srgbClr val="4A86E8"/>
                </a:solidFill>
                <a:latin typeface="Calibri"/>
                <a:ea typeface="Calibri"/>
                <a:cs typeface="Calibri"/>
                <a:sym typeface="Calibri"/>
              </a:rPr>
              <a:t>CONCLUSIÓN:</a:t>
            </a:r>
            <a:endParaRPr b="1">
              <a:solidFill>
                <a:srgbClr val="4A86E8"/>
              </a:solidFill>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3 épocas es óptimo para este dataset</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No necesita más entrenamiento</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Stopping en época 2 basado en val_loss sería ideal</a:t>
            </a:r>
            <a:endParaRPr/>
          </a:p>
          <a:p>
            <a:pPr indent="0" lvl="0" marL="0" marR="0" rtl="0" algn="l">
              <a:spcBef>
                <a:spcPts val="800"/>
              </a:spcBef>
              <a:spcAft>
                <a:spcPts val="0"/>
              </a:spcAft>
              <a:buNone/>
            </a:pPr>
            <a:r>
              <a:rPr b="1" lang="en-US" sz="1600">
                <a:solidFill>
                  <a:srgbClr val="4A86E8"/>
                </a:solidFill>
                <a:latin typeface="Calibri"/>
                <a:ea typeface="Calibri"/>
                <a:cs typeface="Calibri"/>
                <a:sym typeface="Calibri"/>
              </a:rPr>
              <a:t>INTERPRETACIÓN:</a:t>
            </a:r>
            <a:endParaRPr b="1">
              <a:solidFill>
                <a:srgbClr val="4A86E8"/>
              </a:solidFill>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Gap pequeño train/val → buena generalización</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Val accuracy 92% es excelente para clasificación de texto</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MCC &gt; 0.80 considerado muy bueno</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7" name="Shape 307"/>
        <p:cNvGrpSpPr/>
        <p:nvPr/>
      </p:nvGrpSpPr>
      <p:grpSpPr>
        <a:xfrm>
          <a:off x="0" y="0"/>
          <a:ext cx="0" cy="0"/>
          <a:chOff x="0" y="0"/>
          <a:chExt cx="0" cy="0"/>
        </a:xfrm>
      </p:grpSpPr>
      <p:sp>
        <p:nvSpPr>
          <p:cNvPr id="308" name="Google Shape;308;p34"/>
          <p:cNvSpPr txBox="1"/>
          <p:nvPr/>
        </p:nvSpPr>
        <p:spPr>
          <a:xfrm>
            <a:off x="457200" y="274320"/>
            <a:ext cx="822960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003366"/>
                </a:solidFill>
                <a:latin typeface="Calibri"/>
                <a:ea typeface="Calibri"/>
                <a:cs typeface="Calibri"/>
                <a:sym typeface="Calibri"/>
              </a:rPr>
              <a:t>Exportación del Modelo (05_export_model.py)</a:t>
            </a:r>
            <a:endParaRPr/>
          </a:p>
        </p:txBody>
      </p:sp>
      <p:sp>
        <p:nvSpPr>
          <p:cNvPr id="309" name="Google Shape;309;p34"/>
          <p:cNvSpPr txBox="1"/>
          <p:nvPr/>
        </p:nvSpPr>
        <p:spPr>
          <a:xfrm>
            <a:off x="457200" y="1188720"/>
            <a:ext cx="8229600" cy="5223000"/>
          </a:xfrm>
          <a:prstGeom prst="rect">
            <a:avLst/>
          </a:prstGeom>
          <a:noFill/>
          <a:ln>
            <a:noFill/>
          </a:ln>
        </p:spPr>
        <p:txBody>
          <a:bodyPr anchorCtr="0" anchor="t" bIns="45700" lIns="91425" spcFirstLastPara="1" rIns="91425" wrap="square" tIns="45700">
            <a:spAutoFit/>
          </a:bodyPr>
          <a:lstStyle/>
          <a:p>
            <a:pPr indent="0" lvl="0" marL="0" marR="0" rtl="0" algn="l">
              <a:spcBef>
                <a:spcPts val="800"/>
              </a:spcBef>
              <a:spcAft>
                <a:spcPts val="0"/>
              </a:spcAft>
              <a:buNone/>
            </a:pPr>
            <a:r>
              <a:rPr b="1" lang="en-US" sz="1600">
                <a:solidFill>
                  <a:srgbClr val="4A86E8"/>
                </a:solidFill>
                <a:latin typeface="Calibri"/>
                <a:ea typeface="Calibri"/>
                <a:cs typeface="Calibri"/>
                <a:sym typeface="Calibri"/>
              </a:rPr>
              <a:t>ARCHIVOS GUARDADOS:</a:t>
            </a:r>
            <a:endParaRPr b="1">
              <a:solidFill>
                <a:srgbClr val="4A86E8"/>
              </a:solidFill>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config.json: configuración del modelo</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model.safetensors: pesos del modelo (formato seguro)</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tokenizer.json: vocabulario y reglas de tokenización</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tokenizer_config.json: configuración del tokenizer</a:t>
            </a:r>
            <a:endParaRPr/>
          </a:p>
          <a:p>
            <a:pPr indent="0" lvl="0" marL="0" marR="0" rtl="0" algn="l">
              <a:spcBef>
                <a:spcPts val="800"/>
              </a:spcBef>
              <a:spcAft>
                <a:spcPts val="0"/>
              </a:spcAft>
              <a:buNone/>
            </a:pPr>
            <a:r>
              <a:rPr b="1" lang="en-US" sz="1600">
                <a:solidFill>
                  <a:srgbClr val="4A86E8"/>
                </a:solidFill>
                <a:latin typeface="Calibri"/>
                <a:ea typeface="Calibri"/>
                <a:cs typeface="Calibri"/>
                <a:sym typeface="Calibri"/>
              </a:rPr>
              <a:t>MÉTODO:</a:t>
            </a:r>
            <a:endParaRPr b="1">
              <a:solidFill>
                <a:srgbClr val="4A86E8"/>
              </a:solidFill>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model.save_pretrained('model_files/')</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tokenizer.save_pretrained('model_files/')</a:t>
            </a:r>
            <a:endParaRPr/>
          </a:p>
          <a:p>
            <a:pPr indent="0" lvl="0" marL="0" marR="0" rtl="0" algn="l">
              <a:spcBef>
                <a:spcPts val="800"/>
              </a:spcBef>
              <a:spcAft>
                <a:spcPts val="0"/>
              </a:spcAft>
              <a:buNone/>
            </a:pPr>
            <a:r>
              <a:rPr b="1" lang="en-US" sz="1600">
                <a:solidFill>
                  <a:srgbClr val="4A86E8"/>
                </a:solidFill>
                <a:latin typeface="Calibri"/>
                <a:ea typeface="Calibri"/>
                <a:cs typeface="Calibri"/>
                <a:sym typeface="Calibri"/>
              </a:rPr>
              <a:t>VENTAJAS:</a:t>
            </a:r>
            <a:endParaRPr b="1">
              <a:solidFill>
                <a:srgbClr val="4A86E8"/>
              </a:solidFill>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Formato estándar Hugging Face</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Recarga fácil: BertForSequenceClassification.from_pretrained()</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Compatible con Transformers library</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SafeTensors evita ejecución de código malicioso</a:t>
            </a:r>
            <a:endParaRPr/>
          </a:p>
          <a:p>
            <a:pPr indent="0" lvl="0" marL="0" marR="0" rtl="0" algn="l">
              <a:spcBef>
                <a:spcPts val="80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Tamaño total: ~440 MB</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5"/>
          <p:cNvSpPr txBox="1"/>
          <p:nvPr/>
        </p:nvSpPr>
        <p:spPr>
          <a:xfrm>
            <a:off x="914400" y="2286000"/>
            <a:ext cx="7315200" cy="9144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200">
                <a:solidFill>
                  <a:srgbClr val="FF6600"/>
                </a:solidFill>
                <a:latin typeface="Calibri"/>
                <a:ea typeface="Calibri"/>
                <a:cs typeface="Calibri"/>
                <a:sym typeface="Calibri"/>
              </a:rPr>
              <a:t>SEMANA 4</a:t>
            </a:r>
            <a:endParaRPr/>
          </a:p>
        </p:txBody>
      </p:sp>
      <p:sp>
        <p:nvSpPr>
          <p:cNvPr id="315" name="Google Shape;315;p35"/>
          <p:cNvSpPr txBox="1"/>
          <p:nvPr/>
        </p:nvSpPr>
        <p:spPr>
          <a:xfrm>
            <a:off x="914400" y="3017520"/>
            <a:ext cx="7315200" cy="13716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a:solidFill>
                  <a:srgbClr val="003366"/>
                </a:solidFill>
                <a:latin typeface="Calibri"/>
                <a:ea typeface="Calibri"/>
                <a:cs typeface="Calibri"/>
                <a:sym typeface="Calibri"/>
              </a:rPr>
              <a:t>Interfaz Web y Despliegue</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36"/>
          <p:cNvSpPr txBox="1"/>
          <p:nvPr/>
        </p:nvSpPr>
        <p:spPr>
          <a:xfrm>
            <a:off x="457200" y="274320"/>
            <a:ext cx="822960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003366"/>
                </a:solidFill>
                <a:latin typeface="Calibri"/>
                <a:ea typeface="Calibri"/>
                <a:cs typeface="Calibri"/>
                <a:sym typeface="Calibri"/>
              </a:rPr>
              <a:t>Aplicación Streamlit - Arquitectura</a:t>
            </a:r>
            <a:endParaRPr/>
          </a:p>
        </p:txBody>
      </p:sp>
      <p:sp>
        <p:nvSpPr>
          <p:cNvPr id="321" name="Google Shape;321;p36"/>
          <p:cNvSpPr txBox="1"/>
          <p:nvPr/>
        </p:nvSpPr>
        <p:spPr>
          <a:xfrm>
            <a:off x="457200" y="899120"/>
            <a:ext cx="8229600" cy="5571900"/>
          </a:xfrm>
          <a:prstGeom prst="rect">
            <a:avLst/>
          </a:prstGeom>
          <a:noFill/>
          <a:ln>
            <a:noFill/>
          </a:ln>
        </p:spPr>
        <p:txBody>
          <a:bodyPr anchorCtr="0" anchor="t" bIns="45700" lIns="91425" spcFirstLastPara="1" rIns="91425" wrap="square" tIns="45700">
            <a:spAutoFit/>
          </a:bodyPr>
          <a:lstStyle/>
          <a:p>
            <a:pPr indent="0" lvl="0" marL="0" marR="0" rtl="0" algn="l">
              <a:spcBef>
                <a:spcPts val="800"/>
              </a:spcBef>
              <a:spcAft>
                <a:spcPts val="0"/>
              </a:spcAft>
              <a:buNone/>
            </a:pPr>
            <a:r>
              <a:rPr b="1" lang="en-US" sz="1600">
                <a:solidFill>
                  <a:srgbClr val="4A86E8"/>
                </a:solidFill>
                <a:latin typeface="Calibri"/>
                <a:ea typeface="Calibri"/>
                <a:cs typeface="Calibri"/>
                <a:sym typeface="Calibri"/>
              </a:rPr>
              <a:t>app.py (Interfaz principal):</a:t>
            </a:r>
            <a:endParaRPr b="1">
              <a:solidFill>
                <a:srgbClr val="4A86E8"/>
              </a:solidFill>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Configuración de página (título, layout, etc.)</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Carga del modelo con @st.cache_resource</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Tabs: Manual Input + Steam App Analysis</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Lógica de UI y llamadas a utils</a:t>
            </a:r>
            <a:endParaRPr/>
          </a:p>
          <a:p>
            <a:pPr indent="0" lvl="0" marL="0" marR="0" rtl="0" algn="l">
              <a:spcBef>
                <a:spcPts val="800"/>
              </a:spcBef>
              <a:spcAft>
                <a:spcPts val="0"/>
              </a:spcAft>
              <a:buNone/>
            </a:pPr>
            <a:r>
              <a:rPr b="1" lang="en-US" sz="1600">
                <a:solidFill>
                  <a:srgbClr val="4A86E8"/>
                </a:solidFill>
                <a:latin typeface="Calibri"/>
                <a:ea typeface="Calibri"/>
                <a:cs typeface="Calibri"/>
                <a:sym typeface="Calibri"/>
              </a:rPr>
              <a:t>utils.py:</a:t>
            </a:r>
            <a:endParaRPr b="1">
              <a:solidFill>
                <a:srgbClr val="4A86E8"/>
              </a:solidFill>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load_model(): carga BERT + tokenizer desde model_files/</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predict_sentiment(text, model, tokenizer, device):</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1. Limpiar texto (mismo pipeline que training)</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2. Tokenizar con max_length=128</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3. Forward pass (model.eval())</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4. Softmax sobre logits → probabilidades</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5. Retornar label + confidence + cleaned_text</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fetch_steam_reviews(app_id, n): llamada a Steam API</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analyze_reviews(reviews, model, tokenizer, device):</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Clasificación batch + agregación de métricas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5" name="Shape 325"/>
        <p:cNvGrpSpPr/>
        <p:nvPr/>
      </p:nvGrpSpPr>
      <p:grpSpPr>
        <a:xfrm>
          <a:off x="0" y="0"/>
          <a:ext cx="0" cy="0"/>
          <a:chOff x="0" y="0"/>
          <a:chExt cx="0" cy="0"/>
        </a:xfrm>
      </p:grpSpPr>
      <p:sp>
        <p:nvSpPr>
          <p:cNvPr id="326" name="Google Shape;326;p37"/>
          <p:cNvSpPr txBox="1"/>
          <p:nvPr/>
        </p:nvSpPr>
        <p:spPr>
          <a:xfrm>
            <a:off x="457200" y="274320"/>
            <a:ext cx="822960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003366"/>
                </a:solidFill>
                <a:latin typeface="Calibri"/>
                <a:ea typeface="Calibri"/>
                <a:cs typeface="Calibri"/>
                <a:sym typeface="Calibri"/>
              </a:rPr>
              <a:t>Tab 1: Manual Input</a:t>
            </a:r>
            <a:endParaRPr/>
          </a:p>
        </p:txBody>
      </p:sp>
      <p:sp>
        <p:nvSpPr>
          <p:cNvPr id="327" name="Google Shape;327;p37"/>
          <p:cNvSpPr txBox="1"/>
          <p:nvPr/>
        </p:nvSpPr>
        <p:spPr>
          <a:xfrm>
            <a:off x="457200" y="789695"/>
            <a:ext cx="8229600" cy="5715600"/>
          </a:xfrm>
          <a:prstGeom prst="rect">
            <a:avLst/>
          </a:prstGeom>
          <a:noFill/>
          <a:ln>
            <a:noFill/>
          </a:ln>
        </p:spPr>
        <p:txBody>
          <a:bodyPr anchorCtr="0" anchor="t" bIns="45700" lIns="91425" spcFirstLastPara="1" rIns="91425" wrap="square" tIns="45700">
            <a:spAutoFit/>
          </a:bodyPr>
          <a:lstStyle/>
          <a:p>
            <a:pPr indent="0" lvl="0" marL="0" marR="0" rtl="0" algn="l">
              <a:spcBef>
                <a:spcPts val="800"/>
              </a:spcBef>
              <a:spcAft>
                <a:spcPts val="0"/>
              </a:spcAft>
              <a:buNone/>
            </a:pPr>
            <a:r>
              <a:rPr b="1" lang="en-US">
                <a:solidFill>
                  <a:srgbClr val="4A86E8"/>
                </a:solidFill>
                <a:latin typeface="Calibri"/>
                <a:ea typeface="Calibri"/>
                <a:cs typeface="Calibri"/>
                <a:sym typeface="Calibri"/>
              </a:rPr>
              <a:t>INTERFAZ:</a:t>
            </a:r>
            <a:endParaRPr b="1" sz="1200">
              <a:solidFill>
                <a:srgbClr val="4A86E8"/>
              </a:solidFill>
            </a:endParaRPr>
          </a:p>
          <a:p>
            <a:pPr indent="0" lvl="0" marL="0" marR="0" rtl="0" algn="l">
              <a:spcBef>
                <a:spcPts val="800"/>
              </a:spcBef>
              <a:spcAft>
                <a:spcPts val="0"/>
              </a:spcAft>
              <a:buNone/>
            </a:pPr>
            <a:r>
              <a:rPr lang="en-US">
                <a:solidFill>
                  <a:schemeClr val="dk1"/>
                </a:solidFill>
                <a:latin typeface="Calibri"/>
                <a:ea typeface="Calibri"/>
                <a:cs typeface="Calibri"/>
                <a:sym typeface="Calibri"/>
              </a:rPr>
              <a:t>• st.text_area() para input de usuario</a:t>
            </a:r>
            <a:endParaRPr sz="1200"/>
          </a:p>
          <a:p>
            <a:pPr indent="0" lvl="0" marL="0" marR="0" rtl="0" algn="l">
              <a:spcBef>
                <a:spcPts val="800"/>
              </a:spcBef>
              <a:spcAft>
                <a:spcPts val="0"/>
              </a:spcAft>
              <a:buNone/>
            </a:pPr>
            <a:r>
              <a:rPr lang="en-US">
                <a:solidFill>
                  <a:schemeClr val="dk1"/>
                </a:solidFill>
                <a:latin typeface="Calibri"/>
                <a:ea typeface="Calibri"/>
                <a:cs typeface="Calibri"/>
                <a:sym typeface="Calibri"/>
              </a:rPr>
              <a:t>• Botón 'Classify' → trigger de predicción</a:t>
            </a:r>
            <a:endParaRPr sz="1200"/>
          </a:p>
          <a:p>
            <a:pPr indent="0" lvl="0" marL="0" marR="0" rtl="0" algn="l">
              <a:spcBef>
                <a:spcPts val="800"/>
              </a:spcBef>
              <a:spcAft>
                <a:spcPts val="0"/>
              </a:spcAft>
              <a:buNone/>
            </a:pPr>
            <a:r>
              <a:rPr lang="en-US">
                <a:solidFill>
                  <a:schemeClr val="dk1"/>
                </a:solidFill>
                <a:latin typeface="Calibri"/>
                <a:ea typeface="Calibri"/>
                <a:cs typeface="Calibri"/>
                <a:sym typeface="Calibri"/>
              </a:rPr>
              <a:t>• Validación: mínimo 10 caracteres</a:t>
            </a:r>
            <a:endParaRPr>
              <a:solidFill>
                <a:schemeClr val="dk1"/>
              </a:solidFill>
              <a:latin typeface="Calibri"/>
              <a:ea typeface="Calibri"/>
              <a:cs typeface="Calibri"/>
              <a:sym typeface="Calibri"/>
            </a:endParaRPr>
          </a:p>
          <a:p>
            <a:pPr indent="0" lvl="0" marL="0" marR="0" rtl="0" algn="l">
              <a:spcBef>
                <a:spcPts val="800"/>
              </a:spcBef>
              <a:spcAft>
                <a:spcPts val="0"/>
              </a:spcAft>
              <a:buNone/>
            </a:pPr>
            <a:r>
              <a:rPr b="1" lang="en-US">
                <a:solidFill>
                  <a:srgbClr val="4A86E8"/>
                </a:solidFill>
                <a:latin typeface="Calibri"/>
                <a:ea typeface="Calibri"/>
                <a:cs typeface="Calibri"/>
                <a:sym typeface="Calibri"/>
              </a:rPr>
              <a:t>PROCESAMIENTO:</a:t>
            </a:r>
            <a:endParaRPr b="1" sz="1200">
              <a:solidFill>
                <a:srgbClr val="4A86E8"/>
              </a:solidFill>
            </a:endParaRPr>
          </a:p>
          <a:p>
            <a:pPr indent="0" lvl="0" marL="0" marR="0" rtl="0" algn="l">
              <a:spcBef>
                <a:spcPts val="800"/>
              </a:spcBef>
              <a:spcAft>
                <a:spcPts val="0"/>
              </a:spcAft>
              <a:buNone/>
            </a:pPr>
            <a:r>
              <a:rPr lang="en-US">
                <a:solidFill>
                  <a:schemeClr val="dk1"/>
                </a:solidFill>
                <a:latin typeface="Calibri"/>
                <a:ea typeface="Calibri"/>
                <a:cs typeface="Calibri"/>
                <a:sym typeface="Calibri"/>
              </a:rPr>
              <a:t>1. Recibir texto del usuario</a:t>
            </a:r>
            <a:endParaRPr sz="1200"/>
          </a:p>
          <a:p>
            <a:pPr indent="0" lvl="0" marL="0" marR="0" rtl="0" algn="l">
              <a:spcBef>
                <a:spcPts val="800"/>
              </a:spcBef>
              <a:spcAft>
                <a:spcPts val="0"/>
              </a:spcAft>
              <a:buNone/>
            </a:pPr>
            <a:r>
              <a:rPr lang="en-US">
                <a:solidFill>
                  <a:schemeClr val="dk1"/>
                </a:solidFill>
                <a:latin typeface="Calibri"/>
                <a:ea typeface="Calibri"/>
                <a:cs typeface="Calibri"/>
                <a:sym typeface="Calibri"/>
              </a:rPr>
              <a:t>2. Llamar predict_sentiment() de utils</a:t>
            </a:r>
            <a:endParaRPr sz="1200"/>
          </a:p>
          <a:p>
            <a:pPr indent="0" lvl="0" marL="0" marR="0" rtl="0" algn="l">
              <a:spcBef>
                <a:spcPts val="800"/>
              </a:spcBef>
              <a:spcAft>
                <a:spcPts val="0"/>
              </a:spcAft>
              <a:buNone/>
            </a:pPr>
            <a:r>
              <a:rPr lang="en-US">
                <a:solidFill>
                  <a:schemeClr val="dk1"/>
                </a:solidFill>
                <a:latin typeface="Calibri"/>
                <a:ea typeface="Calibri"/>
                <a:cs typeface="Calibri"/>
                <a:sym typeface="Calibri"/>
              </a:rPr>
              <a:t>3. Mostrar resultado:</a:t>
            </a:r>
            <a:endParaRPr sz="1200"/>
          </a:p>
          <a:p>
            <a:pPr indent="0" lvl="0" marL="0" marR="0" rtl="0" algn="l">
              <a:spcBef>
                <a:spcPts val="800"/>
              </a:spcBef>
              <a:spcAft>
                <a:spcPts val="0"/>
              </a:spcAft>
              <a:buNone/>
            </a:pPr>
            <a:r>
              <a:rPr lang="en-US">
                <a:solidFill>
                  <a:schemeClr val="dk1"/>
                </a:solidFill>
                <a:latin typeface="Calibri"/>
                <a:ea typeface="Calibri"/>
                <a:cs typeface="Calibri"/>
                <a:sym typeface="Calibri"/>
              </a:rPr>
              <a:t>   • Badge de color: verde (positivo) / rojo (negativo)</a:t>
            </a:r>
            <a:endParaRPr sz="1200"/>
          </a:p>
          <a:p>
            <a:pPr indent="0" lvl="0" marL="0" marR="0" rtl="0" algn="l">
              <a:spcBef>
                <a:spcPts val="800"/>
              </a:spcBef>
              <a:spcAft>
                <a:spcPts val="0"/>
              </a:spcAft>
              <a:buNone/>
            </a:pPr>
            <a:r>
              <a:rPr lang="en-US">
                <a:solidFill>
                  <a:schemeClr val="dk1"/>
                </a:solidFill>
                <a:latin typeface="Calibri"/>
                <a:ea typeface="Calibri"/>
                <a:cs typeface="Calibri"/>
                <a:sym typeface="Calibri"/>
              </a:rPr>
              <a:t>   • Confidence score + barra de progreso</a:t>
            </a:r>
            <a:endParaRPr sz="1200"/>
          </a:p>
          <a:p>
            <a:pPr indent="0" lvl="0" marL="0" marR="0" rtl="0" algn="l">
              <a:spcBef>
                <a:spcPts val="800"/>
              </a:spcBef>
              <a:spcAft>
                <a:spcPts val="0"/>
              </a:spcAft>
              <a:buNone/>
            </a:pPr>
            <a:r>
              <a:rPr lang="en-US">
                <a:solidFill>
                  <a:schemeClr val="dk1"/>
                </a:solidFill>
                <a:latin typeface="Calibri"/>
                <a:ea typeface="Calibri"/>
                <a:cs typeface="Calibri"/>
                <a:sym typeface="Calibri"/>
              </a:rPr>
              <a:t>   • Expander con texto preprocesado (para debugging)</a:t>
            </a:r>
            <a:endParaRPr>
              <a:solidFill>
                <a:schemeClr val="dk1"/>
              </a:solidFill>
              <a:latin typeface="Calibri"/>
              <a:ea typeface="Calibri"/>
              <a:cs typeface="Calibri"/>
              <a:sym typeface="Calibri"/>
            </a:endParaRPr>
          </a:p>
          <a:p>
            <a:pPr indent="0" lvl="0" marL="0" marR="0" rtl="0" algn="l">
              <a:spcBef>
                <a:spcPts val="800"/>
              </a:spcBef>
              <a:spcAft>
                <a:spcPts val="0"/>
              </a:spcAft>
              <a:buNone/>
            </a:pPr>
            <a:r>
              <a:rPr b="1" lang="en-US">
                <a:solidFill>
                  <a:srgbClr val="4A86E8"/>
                </a:solidFill>
                <a:latin typeface="Calibri"/>
                <a:ea typeface="Calibri"/>
                <a:cs typeface="Calibri"/>
                <a:sym typeface="Calibri"/>
              </a:rPr>
              <a:t>EJEMPLO:</a:t>
            </a:r>
            <a:endParaRPr b="1" sz="1200">
              <a:solidFill>
                <a:srgbClr val="4A86E8"/>
              </a:solidFill>
            </a:endParaRPr>
          </a:p>
          <a:p>
            <a:pPr indent="0" lvl="0" marL="0" marR="0" rtl="0" algn="l">
              <a:spcBef>
                <a:spcPts val="800"/>
              </a:spcBef>
              <a:spcAft>
                <a:spcPts val="0"/>
              </a:spcAft>
              <a:buNone/>
            </a:pPr>
            <a:r>
              <a:rPr lang="en-US">
                <a:solidFill>
                  <a:schemeClr val="dk1"/>
                </a:solidFill>
                <a:latin typeface="Calibri"/>
                <a:ea typeface="Calibri"/>
                <a:cs typeface="Calibri"/>
                <a:sym typeface="Calibri"/>
              </a:rPr>
              <a:t>Input: 'This game is absolutely amazing, great graphics!'</a:t>
            </a:r>
            <a:endParaRPr sz="1200"/>
          </a:p>
          <a:p>
            <a:pPr indent="0" lvl="0" marL="0" marR="0" rtl="0" algn="l">
              <a:spcBef>
                <a:spcPts val="800"/>
              </a:spcBef>
              <a:spcAft>
                <a:spcPts val="0"/>
              </a:spcAft>
              <a:buNone/>
            </a:pPr>
            <a:r>
              <a:rPr lang="en-US">
                <a:solidFill>
                  <a:schemeClr val="dk1"/>
                </a:solidFill>
                <a:latin typeface="Calibri"/>
                <a:ea typeface="Calibri"/>
                <a:cs typeface="Calibri"/>
                <a:sym typeface="Calibri"/>
              </a:rPr>
              <a:t>Output:</a:t>
            </a:r>
            <a:endParaRPr sz="1200"/>
          </a:p>
          <a:p>
            <a:pPr indent="0" lvl="0" marL="0" marR="0" rtl="0" algn="l">
              <a:spcBef>
                <a:spcPts val="800"/>
              </a:spcBef>
              <a:spcAft>
                <a:spcPts val="0"/>
              </a:spcAft>
              <a:buNone/>
            </a:pPr>
            <a:r>
              <a:rPr lang="en-US">
                <a:solidFill>
                  <a:schemeClr val="dk1"/>
                </a:solidFill>
                <a:latin typeface="Calibri"/>
                <a:ea typeface="Calibri"/>
                <a:cs typeface="Calibri"/>
                <a:sym typeface="Calibri"/>
              </a:rPr>
              <a:t>  ✓ Prediction: Positive 👍</a:t>
            </a:r>
            <a:endParaRPr sz="1200"/>
          </a:p>
          <a:p>
            <a:pPr indent="0" lvl="0" marL="0" marR="0" rtl="0" algn="l">
              <a:spcBef>
                <a:spcPts val="800"/>
              </a:spcBef>
              <a:spcAft>
                <a:spcPts val="0"/>
              </a:spcAft>
              <a:buNone/>
            </a:pPr>
            <a:r>
              <a:rPr lang="en-US">
                <a:solidFill>
                  <a:schemeClr val="dk1"/>
                </a:solidFill>
                <a:latin typeface="Calibri"/>
                <a:ea typeface="Calibri"/>
                <a:cs typeface="Calibri"/>
                <a:sym typeface="Calibri"/>
              </a:rPr>
              <a:t>  Confidence: 98.5%</a:t>
            </a:r>
            <a:endParaRPr sz="1200"/>
          </a:p>
          <a:p>
            <a:pPr indent="0" lvl="0" marL="0" marR="0" rtl="0" algn="l">
              <a:spcBef>
                <a:spcPts val="800"/>
              </a:spcBef>
              <a:spcAft>
                <a:spcPts val="0"/>
              </a:spcAft>
              <a:buNone/>
            </a:pPr>
            <a:r>
              <a:rPr lang="en-US">
                <a:solidFill>
                  <a:schemeClr val="dk1"/>
                </a:solidFill>
                <a:latin typeface="Calibri"/>
                <a:ea typeface="Calibri"/>
                <a:cs typeface="Calibri"/>
                <a:sym typeface="Calibri"/>
              </a:rPr>
              <a:t>  [Progress bar]</a:t>
            </a:r>
            <a:endParaRPr sz="1200"/>
          </a:p>
          <a:p>
            <a:pPr indent="0" lvl="0" marL="0" marR="0" rtl="0" algn="l">
              <a:spcBef>
                <a:spcPts val="800"/>
              </a:spcBef>
              <a:spcAft>
                <a:spcPts val="0"/>
              </a:spcAft>
              <a:buNone/>
            </a:pPr>
            <a:r>
              <a:rPr lang="en-US">
                <a:solidFill>
                  <a:schemeClr val="dk1"/>
                </a:solidFill>
                <a:latin typeface="Calibri"/>
                <a:ea typeface="Calibri"/>
                <a:cs typeface="Calibri"/>
                <a:sym typeface="Calibri"/>
              </a:rPr>
              <a:t>  Preprocessed: 'this game is absolutely amazing great graphics'</a:t>
            </a:r>
            <a:endParaRPr sz="12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1" name="Shape 331"/>
        <p:cNvGrpSpPr/>
        <p:nvPr/>
      </p:nvGrpSpPr>
      <p:grpSpPr>
        <a:xfrm>
          <a:off x="0" y="0"/>
          <a:ext cx="0" cy="0"/>
          <a:chOff x="0" y="0"/>
          <a:chExt cx="0" cy="0"/>
        </a:xfrm>
      </p:grpSpPr>
      <p:sp>
        <p:nvSpPr>
          <p:cNvPr id="332" name="Google Shape;332;g39421e1b5d2_0_0"/>
          <p:cNvSpPr txBox="1"/>
          <p:nvPr/>
        </p:nvSpPr>
        <p:spPr>
          <a:xfrm>
            <a:off x="457200" y="274320"/>
            <a:ext cx="82296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003366"/>
                </a:solidFill>
                <a:latin typeface="Calibri"/>
                <a:ea typeface="Calibri"/>
                <a:cs typeface="Calibri"/>
                <a:sym typeface="Calibri"/>
              </a:rPr>
              <a:t>Tab 1: Manual Input</a:t>
            </a:r>
            <a:endParaRPr/>
          </a:p>
        </p:txBody>
      </p:sp>
      <p:sp>
        <p:nvSpPr>
          <p:cNvPr id="333" name="Google Shape;333;g39421e1b5d2_0_0"/>
          <p:cNvSpPr txBox="1"/>
          <p:nvPr/>
        </p:nvSpPr>
        <p:spPr>
          <a:xfrm>
            <a:off x="457200" y="789695"/>
            <a:ext cx="8229600" cy="5715600"/>
          </a:xfrm>
          <a:prstGeom prst="rect">
            <a:avLst/>
          </a:prstGeom>
          <a:noFill/>
          <a:ln>
            <a:noFill/>
          </a:ln>
        </p:spPr>
        <p:txBody>
          <a:bodyPr anchorCtr="0" anchor="t" bIns="45700" lIns="91425" spcFirstLastPara="1" rIns="91425" wrap="square" tIns="45700">
            <a:spAutoFit/>
          </a:bodyPr>
          <a:lstStyle/>
          <a:p>
            <a:pPr indent="0" lvl="0" marL="0" marR="0" rtl="0" algn="l">
              <a:spcBef>
                <a:spcPts val="800"/>
              </a:spcBef>
              <a:spcAft>
                <a:spcPts val="0"/>
              </a:spcAft>
              <a:buNone/>
            </a:pPr>
            <a:r>
              <a:rPr b="1" lang="en-US">
                <a:solidFill>
                  <a:srgbClr val="4A86E8"/>
                </a:solidFill>
                <a:latin typeface="Calibri"/>
                <a:ea typeface="Calibri"/>
                <a:cs typeface="Calibri"/>
                <a:sym typeface="Calibri"/>
              </a:rPr>
              <a:t>INTERFAZ:</a:t>
            </a:r>
            <a:endParaRPr b="1" sz="1200">
              <a:solidFill>
                <a:srgbClr val="4A86E8"/>
              </a:solidFill>
            </a:endParaRPr>
          </a:p>
          <a:p>
            <a:pPr indent="0" lvl="0" marL="0" marR="0" rtl="0" algn="l">
              <a:spcBef>
                <a:spcPts val="800"/>
              </a:spcBef>
              <a:spcAft>
                <a:spcPts val="0"/>
              </a:spcAft>
              <a:buNone/>
            </a:pPr>
            <a:r>
              <a:rPr lang="en-US">
                <a:solidFill>
                  <a:schemeClr val="dk1"/>
                </a:solidFill>
                <a:latin typeface="Calibri"/>
                <a:ea typeface="Calibri"/>
                <a:cs typeface="Calibri"/>
                <a:sym typeface="Calibri"/>
              </a:rPr>
              <a:t>• st.text_area() para input de usuario</a:t>
            </a:r>
            <a:endParaRPr sz="1200"/>
          </a:p>
          <a:p>
            <a:pPr indent="0" lvl="0" marL="0" marR="0" rtl="0" algn="l">
              <a:spcBef>
                <a:spcPts val="800"/>
              </a:spcBef>
              <a:spcAft>
                <a:spcPts val="0"/>
              </a:spcAft>
              <a:buNone/>
            </a:pPr>
            <a:r>
              <a:rPr lang="en-US">
                <a:solidFill>
                  <a:schemeClr val="dk1"/>
                </a:solidFill>
                <a:latin typeface="Calibri"/>
                <a:ea typeface="Calibri"/>
                <a:cs typeface="Calibri"/>
                <a:sym typeface="Calibri"/>
              </a:rPr>
              <a:t>• Botón 'Classify' → trigger de predicción</a:t>
            </a:r>
            <a:endParaRPr sz="1200"/>
          </a:p>
          <a:p>
            <a:pPr indent="0" lvl="0" marL="0" marR="0" rtl="0" algn="l">
              <a:spcBef>
                <a:spcPts val="800"/>
              </a:spcBef>
              <a:spcAft>
                <a:spcPts val="0"/>
              </a:spcAft>
              <a:buNone/>
            </a:pPr>
            <a:r>
              <a:rPr lang="en-US">
                <a:solidFill>
                  <a:schemeClr val="dk1"/>
                </a:solidFill>
                <a:latin typeface="Calibri"/>
                <a:ea typeface="Calibri"/>
                <a:cs typeface="Calibri"/>
                <a:sym typeface="Calibri"/>
              </a:rPr>
              <a:t>• Validación: mínimo 10 caracteres</a:t>
            </a:r>
            <a:endParaRPr>
              <a:solidFill>
                <a:schemeClr val="dk1"/>
              </a:solidFill>
              <a:latin typeface="Calibri"/>
              <a:ea typeface="Calibri"/>
              <a:cs typeface="Calibri"/>
              <a:sym typeface="Calibri"/>
            </a:endParaRPr>
          </a:p>
          <a:p>
            <a:pPr indent="0" lvl="0" marL="0" marR="0" rtl="0" algn="l">
              <a:spcBef>
                <a:spcPts val="800"/>
              </a:spcBef>
              <a:spcAft>
                <a:spcPts val="0"/>
              </a:spcAft>
              <a:buNone/>
            </a:pPr>
            <a:r>
              <a:rPr b="1" lang="en-US">
                <a:solidFill>
                  <a:srgbClr val="4A86E8"/>
                </a:solidFill>
                <a:latin typeface="Calibri"/>
                <a:ea typeface="Calibri"/>
                <a:cs typeface="Calibri"/>
                <a:sym typeface="Calibri"/>
              </a:rPr>
              <a:t>PROCESAMIENTO:</a:t>
            </a:r>
            <a:endParaRPr b="1" sz="1200">
              <a:solidFill>
                <a:srgbClr val="4A86E8"/>
              </a:solidFill>
            </a:endParaRPr>
          </a:p>
          <a:p>
            <a:pPr indent="0" lvl="0" marL="0" marR="0" rtl="0" algn="l">
              <a:spcBef>
                <a:spcPts val="800"/>
              </a:spcBef>
              <a:spcAft>
                <a:spcPts val="0"/>
              </a:spcAft>
              <a:buNone/>
            </a:pPr>
            <a:r>
              <a:rPr lang="en-US">
                <a:solidFill>
                  <a:schemeClr val="dk1"/>
                </a:solidFill>
                <a:latin typeface="Calibri"/>
                <a:ea typeface="Calibri"/>
                <a:cs typeface="Calibri"/>
                <a:sym typeface="Calibri"/>
              </a:rPr>
              <a:t>1. Recibir texto del usuario</a:t>
            </a:r>
            <a:endParaRPr sz="1200"/>
          </a:p>
          <a:p>
            <a:pPr indent="0" lvl="0" marL="0" marR="0" rtl="0" algn="l">
              <a:spcBef>
                <a:spcPts val="800"/>
              </a:spcBef>
              <a:spcAft>
                <a:spcPts val="0"/>
              </a:spcAft>
              <a:buNone/>
            </a:pPr>
            <a:r>
              <a:rPr lang="en-US">
                <a:solidFill>
                  <a:schemeClr val="dk1"/>
                </a:solidFill>
                <a:latin typeface="Calibri"/>
                <a:ea typeface="Calibri"/>
                <a:cs typeface="Calibri"/>
                <a:sym typeface="Calibri"/>
              </a:rPr>
              <a:t>2. Llamar predict_sentiment() de utils</a:t>
            </a:r>
            <a:endParaRPr sz="1200"/>
          </a:p>
          <a:p>
            <a:pPr indent="0" lvl="0" marL="0" marR="0" rtl="0" algn="l">
              <a:spcBef>
                <a:spcPts val="800"/>
              </a:spcBef>
              <a:spcAft>
                <a:spcPts val="0"/>
              </a:spcAft>
              <a:buNone/>
            </a:pPr>
            <a:r>
              <a:rPr lang="en-US">
                <a:solidFill>
                  <a:schemeClr val="dk1"/>
                </a:solidFill>
                <a:latin typeface="Calibri"/>
                <a:ea typeface="Calibri"/>
                <a:cs typeface="Calibri"/>
                <a:sym typeface="Calibri"/>
              </a:rPr>
              <a:t>3. Mostrar resultado:</a:t>
            </a:r>
            <a:endParaRPr sz="1200"/>
          </a:p>
          <a:p>
            <a:pPr indent="0" lvl="0" marL="0" marR="0" rtl="0" algn="l">
              <a:spcBef>
                <a:spcPts val="800"/>
              </a:spcBef>
              <a:spcAft>
                <a:spcPts val="0"/>
              </a:spcAft>
              <a:buNone/>
            </a:pPr>
            <a:r>
              <a:rPr lang="en-US">
                <a:solidFill>
                  <a:schemeClr val="dk1"/>
                </a:solidFill>
                <a:latin typeface="Calibri"/>
                <a:ea typeface="Calibri"/>
                <a:cs typeface="Calibri"/>
                <a:sym typeface="Calibri"/>
              </a:rPr>
              <a:t>   • Badge de color: verde (positivo) / rojo (negativo)</a:t>
            </a:r>
            <a:endParaRPr sz="1200"/>
          </a:p>
          <a:p>
            <a:pPr indent="0" lvl="0" marL="0" marR="0" rtl="0" algn="l">
              <a:spcBef>
                <a:spcPts val="800"/>
              </a:spcBef>
              <a:spcAft>
                <a:spcPts val="0"/>
              </a:spcAft>
              <a:buNone/>
            </a:pPr>
            <a:r>
              <a:rPr lang="en-US">
                <a:solidFill>
                  <a:schemeClr val="dk1"/>
                </a:solidFill>
                <a:latin typeface="Calibri"/>
                <a:ea typeface="Calibri"/>
                <a:cs typeface="Calibri"/>
                <a:sym typeface="Calibri"/>
              </a:rPr>
              <a:t>   • Confidence score + barra de progreso</a:t>
            </a:r>
            <a:endParaRPr sz="1200"/>
          </a:p>
          <a:p>
            <a:pPr indent="0" lvl="0" marL="0" marR="0" rtl="0" algn="l">
              <a:spcBef>
                <a:spcPts val="800"/>
              </a:spcBef>
              <a:spcAft>
                <a:spcPts val="0"/>
              </a:spcAft>
              <a:buNone/>
            </a:pPr>
            <a:r>
              <a:rPr lang="en-US">
                <a:solidFill>
                  <a:schemeClr val="dk1"/>
                </a:solidFill>
                <a:latin typeface="Calibri"/>
                <a:ea typeface="Calibri"/>
                <a:cs typeface="Calibri"/>
                <a:sym typeface="Calibri"/>
              </a:rPr>
              <a:t>   • Expander con texto preprocesado (para debugging)</a:t>
            </a:r>
            <a:endParaRPr>
              <a:solidFill>
                <a:schemeClr val="dk1"/>
              </a:solidFill>
              <a:latin typeface="Calibri"/>
              <a:ea typeface="Calibri"/>
              <a:cs typeface="Calibri"/>
              <a:sym typeface="Calibri"/>
            </a:endParaRPr>
          </a:p>
          <a:p>
            <a:pPr indent="0" lvl="0" marL="0" marR="0" rtl="0" algn="l">
              <a:spcBef>
                <a:spcPts val="800"/>
              </a:spcBef>
              <a:spcAft>
                <a:spcPts val="0"/>
              </a:spcAft>
              <a:buNone/>
            </a:pPr>
            <a:r>
              <a:rPr b="1" lang="en-US">
                <a:solidFill>
                  <a:srgbClr val="4A86E8"/>
                </a:solidFill>
                <a:latin typeface="Calibri"/>
                <a:ea typeface="Calibri"/>
                <a:cs typeface="Calibri"/>
                <a:sym typeface="Calibri"/>
              </a:rPr>
              <a:t>EJEMPLO:</a:t>
            </a:r>
            <a:endParaRPr b="1" sz="1200">
              <a:solidFill>
                <a:srgbClr val="4A86E8"/>
              </a:solidFill>
            </a:endParaRPr>
          </a:p>
          <a:p>
            <a:pPr indent="0" lvl="0" marL="0" marR="0" rtl="0" algn="l">
              <a:spcBef>
                <a:spcPts val="800"/>
              </a:spcBef>
              <a:spcAft>
                <a:spcPts val="0"/>
              </a:spcAft>
              <a:buNone/>
            </a:pPr>
            <a:r>
              <a:rPr lang="en-US">
                <a:solidFill>
                  <a:schemeClr val="dk1"/>
                </a:solidFill>
                <a:latin typeface="Calibri"/>
                <a:ea typeface="Calibri"/>
                <a:cs typeface="Calibri"/>
                <a:sym typeface="Calibri"/>
              </a:rPr>
              <a:t>Input: 'This game is absolutely amazing, great graphics!'</a:t>
            </a:r>
            <a:endParaRPr sz="1200"/>
          </a:p>
          <a:p>
            <a:pPr indent="0" lvl="0" marL="0" marR="0" rtl="0" algn="l">
              <a:spcBef>
                <a:spcPts val="800"/>
              </a:spcBef>
              <a:spcAft>
                <a:spcPts val="0"/>
              </a:spcAft>
              <a:buNone/>
            </a:pPr>
            <a:r>
              <a:rPr lang="en-US">
                <a:solidFill>
                  <a:schemeClr val="dk1"/>
                </a:solidFill>
                <a:latin typeface="Calibri"/>
                <a:ea typeface="Calibri"/>
                <a:cs typeface="Calibri"/>
                <a:sym typeface="Calibri"/>
              </a:rPr>
              <a:t>Output:</a:t>
            </a:r>
            <a:endParaRPr sz="1200"/>
          </a:p>
          <a:p>
            <a:pPr indent="0" lvl="0" marL="0" marR="0" rtl="0" algn="l">
              <a:spcBef>
                <a:spcPts val="800"/>
              </a:spcBef>
              <a:spcAft>
                <a:spcPts val="0"/>
              </a:spcAft>
              <a:buNone/>
            </a:pPr>
            <a:r>
              <a:rPr lang="en-US">
                <a:solidFill>
                  <a:schemeClr val="dk1"/>
                </a:solidFill>
                <a:latin typeface="Calibri"/>
                <a:ea typeface="Calibri"/>
                <a:cs typeface="Calibri"/>
                <a:sym typeface="Calibri"/>
              </a:rPr>
              <a:t>  ✓ Prediction: Positive 👍</a:t>
            </a:r>
            <a:endParaRPr sz="1200"/>
          </a:p>
          <a:p>
            <a:pPr indent="0" lvl="0" marL="0" marR="0" rtl="0" algn="l">
              <a:spcBef>
                <a:spcPts val="800"/>
              </a:spcBef>
              <a:spcAft>
                <a:spcPts val="0"/>
              </a:spcAft>
              <a:buNone/>
            </a:pPr>
            <a:r>
              <a:rPr lang="en-US">
                <a:solidFill>
                  <a:schemeClr val="dk1"/>
                </a:solidFill>
                <a:latin typeface="Calibri"/>
                <a:ea typeface="Calibri"/>
                <a:cs typeface="Calibri"/>
                <a:sym typeface="Calibri"/>
              </a:rPr>
              <a:t>  Confidence: 98.5%</a:t>
            </a:r>
            <a:endParaRPr sz="1200"/>
          </a:p>
          <a:p>
            <a:pPr indent="0" lvl="0" marL="0" marR="0" rtl="0" algn="l">
              <a:spcBef>
                <a:spcPts val="800"/>
              </a:spcBef>
              <a:spcAft>
                <a:spcPts val="0"/>
              </a:spcAft>
              <a:buNone/>
            </a:pPr>
            <a:r>
              <a:rPr lang="en-US">
                <a:solidFill>
                  <a:schemeClr val="dk1"/>
                </a:solidFill>
                <a:latin typeface="Calibri"/>
                <a:ea typeface="Calibri"/>
                <a:cs typeface="Calibri"/>
                <a:sym typeface="Calibri"/>
              </a:rPr>
              <a:t>  [Progress bar]</a:t>
            </a:r>
            <a:endParaRPr sz="1200"/>
          </a:p>
          <a:p>
            <a:pPr indent="0" lvl="0" marL="0" marR="0" rtl="0" algn="l">
              <a:spcBef>
                <a:spcPts val="800"/>
              </a:spcBef>
              <a:spcAft>
                <a:spcPts val="0"/>
              </a:spcAft>
              <a:buNone/>
            </a:pPr>
            <a:r>
              <a:rPr lang="en-US">
                <a:solidFill>
                  <a:schemeClr val="dk1"/>
                </a:solidFill>
                <a:latin typeface="Calibri"/>
                <a:ea typeface="Calibri"/>
                <a:cs typeface="Calibri"/>
                <a:sym typeface="Calibri"/>
              </a:rPr>
              <a:t>  Preprocessed: 'this game is absolutely amazing great graphics'</a:t>
            </a:r>
            <a:endParaRPr sz="12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38"/>
          <p:cNvSpPr txBox="1"/>
          <p:nvPr/>
        </p:nvSpPr>
        <p:spPr>
          <a:xfrm>
            <a:off x="457200" y="274320"/>
            <a:ext cx="822960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003366"/>
                </a:solidFill>
                <a:latin typeface="Calibri"/>
                <a:ea typeface="Calibri"/>
                <a:cs typeface="Calibri"/>
                <a:sym typeface="Calibri"/>
              </a:rPr>
              <a:t>Tab 2: Steam App Analysis</a:t>
            </a:r>
            <a:endParaRPr/>
          </a:p>
        </p:txBody>
      </p:sp>
      <p:sp>
        <p:nvSpPr>
          <p:cNvPr id="339" name="Google Shape;339;p38"/>
          <p:cNvSpPr txBox="1"/>
          <p:nvPr/>
        </p:nvSpPr>
        <p:spPr>
          <a:xfrm>
            <a:off x="457200" y="815445"/>
            <a:ext cx="8229600" cy="4874100"/>
          </a:xfrm>
          <a:prstGeom prst="rect">
            <a:avLst/>
          </a:prstGeom>
          <a:noFill/>
          <a:ln>
            <a:noFill/>
          </a:ln>
        </p:spPr>
        <p:txBody>
          <a:bodyPr anchorCtr="0" anchor="t" bIns="45700" lIns="91425" spcFirstLastPara="1" rIns="91425" wrap="square" tIns="45700">
            <a:spAutoFit/>
          </a:bodyPr>
          <a:lstStyle/>
          <a:p>
            <a:pPr indent="0" lvl="0" marL="0" marR="0" rtl="0" algn="l">
              <a:spcBef>
                <a:spcPts val="800"/>
              </a:spcBef>
              <a:spcAft>
                <a:spcPts val="0"/>
              </a:spcAft>
              <a:buNone/>
            </a:pPr>
            <a:r>
              <a:rPr b="1" lang="en-US" sz="1600">
                <a:solidFill>
                  <a:schemeClr val="accent1"/>
                </a:solidFill>
                <a:latin typeface="Calibri"/>
                <a:ea typeface="Calibri"/>
                <a:cs typeface="Calibri"/>
                <a:sym typeface="Calibri"/>
              </a:rPr>
              <a:t>INTERFAZ:</a:t>
            </a:r>
            <a:endParaRPr b="1">
              <a:solidFill>
                <a:schemeClr val="accent1"/>
              </a:solidFill>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Input: Steam App ID (ej: 1850570)</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Slider: número de reseñas a analizar (10-100)</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Botón 'Analyze Game'</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b="1" lang="en-US" sz="1600">
                <a:solidFill>
                  <a:schemeClr val="accent1"/>
                </a:solidFill>
                <a:latin typeface="Calibri"/>
                <a:ea typeface="Calibri"/>
                <a:cs typeface="Calibri"/>
                <a:sym typeface="Calibri"/>
              </a:rPr>
              <a:t>PROCESO:</a:t>
            </a:r>
            <a:endParaRPr b="1">
              <a:solidFill>
                <a:schemeClr val="accent1"/>
              </a:solidFill>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1. Fetch reseñas desde Steam Store API</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GET https://store.steampowered.com/appreviews/{app_id}</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Parámetros: json=1, language=english, num_per_page=100</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2. Filtrar idioma de reseñas y su longitud</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3. Clasificar batch completo con BERT</a:t>
            </a:r>
            <a:endParaRPr sz="1600">
              <a:solidFill>
                <a:schemeClr val="dk1"/>
              </a:solidFill>
              <a:latin typeface="Calibri"/>
              <a:ea typeface="Calibri"/>
              <a:cs typeface="Calibri"/>
              <a:sym typeface="Calibri"/>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4. Calcular métricas agregadas:</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 % positivas según modelo</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 Comparación con Steam native labels</a:t>
            </a:r>
            <a:endParaRPr/>
          </a:p>
          <a:p>
            <a:pPr indent="0" lvl="0" marL="0" marR="0" rtl="0" algn="l">
              <a:spcBef>
                <a:spcPts val="800"/>
              </a:spcBef>
              <a:spcAft>
                <a:spcPts val="0"/>
              </a:spcAft>
              <a:buNone/>
            </a:pPr>
            <a:r>
              <a:rPr lang="en-US" sz="1600">
                <a:solidFill>
                  <a:schemeClr val="dk1"/>
                </a:solidFill>
                <a:latin typeface="Calibri"/>
                <a:ea typeface="Calibri"/>
                <a:cs typeface="Calibri"/>
                <a:sym typeface="Calibri"/>
              </a:rPr>
              <a:t>   • Agreement rate (modelo vs Steam)</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43"/>
          <p:cNvSpPr txBox="1"/>
          <p:nvPr/>
        </p:nvSpPr>
        <p:spPr>
          <a:xfrm>
            <a:off x="914400" y="2286000"/>
            <a:ext cx="73152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rgbClr val="000000"/>
              </a:buClr>
              <a:buFont typeface="Arial"/>
              <a:buNone/>
            </a:pPr>
            <a:r>
              <a:rPr b="1" lang="en-US" sz="3600">
                <a:solidFill>
                  <a:srgbClr val="003366"/>
                </a:solidFill>
                <a:latin typeface="Calibri"/>
                <a:ea typeface="Calibri"/>
                <a:cs typeface="Calibri"/>
                <a:sym typeface="Calibri"/>
              </a:rPr>
              <a:t>Resultados y Prueba en vivo</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g3c9478fcecd_0_8"/>
          <p:cNvSpPr txBox="1"/>
          <p:nvPr/>
        </p:nvSpPr>
        <p:spPr>
          <a:xfrm>
            <a:off x="196550" y="228175"/>
            <a:ext cx="6534600" cy="87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700">
                <a:solidFill>
                  <a:srgbClr val="4A86E8"/>
                </a:solidFill>
              </a:rPr>
              <a:t>Link para utilizar el modelo</a:t>
            </a:r>
            <a:endParaRPr b="1" sz="1700">
              <a:solidFill>
                <a:srgbClr val="4A86E8"/>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US"/>
              <a:t>https://xpiwv2jnr7jzyymgh8hxem.streamlit.app/#d58bdd3e</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51"/>
          <p:cNvSpPr txBox="1"/>
          <p:nvPr/>
        </p:nvSpPr>
        <p:spPr>
          <a:xfrm>
            <a:off x="914400" y="2286000"/>
            <a:ext cx="73152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a:solidFill>
                  <a:srgbClr val="003366"/>
                </a:solidFill>
                <a:latin typeface="Calibri"/>
                <a:ea typeface="Calibri"/>
                <a:cs typeface="Calibri"/>
                <a:sym typeface="Calibri"/>
              </a:rPr>
              <a:t>Conclusiones, Logros y Aprendizajes</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57"/>
          <p:cNvSpPr txBox="1"/>
          <p:nvPr/>
        </p:nvSpPr>
        <p:spPr>
          <a:xfrm>
            <a:off x="914400" y="2286000"/>
            <a:ext cx="7315200" cy="1828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6000">
                <a:solidFill>
                  <a:srgbClr val="003366"/>
                </a:solidFill>
                <a:latin typeface="Calibri"/>
                <a:ea typeface="Calibri"/>
                <a:cs typeface="Calibri"/>
                <a:sym typeface="Calibri"/>
              </a:rPr>
              <a:t>¡Gracias!</a:t>
            </a:r>
            <a:endParaRPr/>
          </a:p>
        </p:txBody>
      </p:sp>
      <p:sp>
        <p:nvSpPr>
          <p:cNvPr id="360" name="Google Shape;360;p57"/>
          <p:cNvSpPr txBox="1"/>
          <p:nvPr/>
        </p:nvSpPr>
        <p:spPr>
          <a:xfrm>
            <a:off x="914400" y="4572000"/>
            <a:ext cx="73152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