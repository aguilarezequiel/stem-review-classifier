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50" roundtripDataSignature="AMtx7miry2RnYxlf81TyvpAcWIcRIhT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c8a0caada3_0_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c8a0caada3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c9478fcecd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3c9478fcecd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c9478fcec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c9478fcec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5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5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6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6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6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6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6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6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6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6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6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6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6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6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6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6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6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6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6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6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6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6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6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6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6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6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5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5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5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5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www.kaggle.com/datasets/andrewmvd/steam-reviews" TargetMode="External"/><Relationship Id="rId4" Type="http://schemas.openxmlformats.org/officeDocument/2006/relationships/hyperlink" Target="https://www.kaggle.com/datasets/andrewmvd/steam-reviews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828800"/>
            <a:ext cx="73152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Video Game Review Classifier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137775" y="2536800"/>
            <a:ext cx="90063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Fine-Tuning de BERT para Análisis de Sentimiento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https://xpiwv2jnr7jzyymgh8hxem.streamlit.app/#d58bdd3e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Redes Neuronales Profundas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UTN - Facultad Regional Mendoza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Profesor Titular: Pablo Marinozi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Alumno: Ezequiel Aguilar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/>
        </p:nvSpPr>
        <p:spPr>
          <a:xfrm>
            <a:off x="457200" y="2743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Indice</a:t>
            </a:r>
            <a:endParaRPr/>
          </a:p>
        </p:txBody>
      </p:sp>
      <p:sp>
        <p:nvSpPr>
          <p:cNvPr id="91" name="Google Shape;91;p2"/>
          <p:cNvSpPr txBox="1"/>
          <p:nvPr/>
        </p:nvSpPr>
        <p:spPr>
          <a:xfrm>
            <a:off x="457200" y="1188720"/>
            <a:ext cx="8229600" cy="5212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Introducción y Objetivos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Fundamentos Teóricos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Arquitectura Transformer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Mecanismos de Atención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BERT: Pre-training y Fine-tuning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Semana 1: Elección del Dataset y Aplicación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Semana 2: Creación del Dataset en PyTorch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Semana 3: Entrenamiento y Selección del Modelo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6. Semana 4: Desarrollo de Interfaz y Despliegue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7. Resultados y Evaluación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8. Conclusiones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Introducción</a:t>
            </a:r>
            <a:endParaRPr/>
          </a:p>
        </p:txBody>
      </p:sp>
      <p:sp>
        <p:nvSpPr>
          <p:cNvPr id="97" name="Google Shape;97;p3"/>
          <p:cNvSpPr txBox="1"/>
          <p:nvPr/>
        </p:nvSpPr>
        <p:spPr>
          <a:xfrm>
            <a:off x="457200" y="1188720"/>
            <a:ext cx="8229600" cy="442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DEL PROYECTO: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 clasificador de sentimiento para reseñas de videojuegos</a:t>
            </a:r>
            <a:r>
              <a:rPr lang="en-US"/>
              <a:t>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utilizando fine-tuning de BERT. De esta forma, el clasificador deberá predecir si es positiva o negativa la reseña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Clasificación binaria: reseñas positivas vs negativas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Reseñas del dataset de Kaggle (www.kaggle.com/datasets/andrewmvd/steam-reviews)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Aplicación web con Streamlit + integración Steam API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Deployment en Streamlit Cloud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Fine-tuning completo de bert-base-uncased (todos los parámetros entrenables)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siguiendo la metodología vista en clase (BERT_Fine_Tuning.ipynb).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FUNDAMENTOS TEÓRICOS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"/>
          <p:cNvSpPr txBox="1"/>
          <p:nvPr/>
        </p:nvSpPr>
        <p:spPr>
          <a:xfrm>
            <a:off x="154350" y="74145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¿Por qué Transformers?</a:t>
            </a:r>
            <a:endParaRPr/>
          </a:p>
        </p:txBody>
      </p:sp>
      <p:sp>
        <p:nvSpPr>
          <p:cNvPr id="108" name="Google Shape;108;p5"/>
          <p:cNvSpPr txBox="1"/>
          <p:nvPr/>
        </p:nvSpPr>
        <p:spPr>
          <a:xfrm>
            <a:off x="154350" y="597350"/>
            <a:ext cx="8552100" cy="60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 DE LAS REDES NEURONALES RECURRENTES O CONVOLUCIONALES COMPLEJAS:</a:t>
            </a:r>
            <a:endParaRPr sz="13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Procesamiento secuencial → difícil paralelización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Extended Neural GPU, ByteNet y ConvS2S estuvieron cerca pero… crecen lineal o logaritmicamente. Cuanto más lejos están dos palabras, más difícil es que el modelo entienda su relación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Dependencias a largo plazo se degradan con la distancia</a:t>
            </a:r>
            <a:endParaRPr sz="13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Vanishing/exploding gradients en secuencias largas</a:t>
            </a:r>
            <a:endParaRPr sz="13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VENTAJAS DE TRANSFORMERS:</a:t>
            </a:r>
            <a:endParaRPr sz="13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Procesamiento en paralelo de toda la secuencia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Número constante de operaciones para relacionar cualquier palabra con cualquier otra gracias a self-attention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Self-attention = cada palabra decide a qué otras palabras prestar atención en una secuencia.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Usa </a:t>
            </a: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Multi-Head Attention porque pierde un poco de precisión local al combinar información de muchas posiciones y promediar pesos de atención. “mirar la oración desde distintos “puntos de vista”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Requieren significativamente menos tiempo de entrenamiento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Self-attention captura dependencias globales directamente</a:t>
            </a:r>
            <a:endParaRPr sz="13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Escalabilidad: más datos + más parámetros = mejor performance</a:t>
            </a:r>
            <a:endParaRPr sz="13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Base para modelos modernos: BERT, GPT, etc.</a:t>
            </a:r>
            <a:endParaRPr sz="13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pic>
        <p:nvPicPr>
          <p:cNvPr id="109" name="Google Shape;109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67725" y="882624"/>
            <a:ext cx="1325350" cy="40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5"/>
          <p:cNvSpPr txBox="1"/>
          <p:nvPr/>
        </p:nvSpPr>
        <p:spPr>
          <a:xfrm>
            <a:off x="4042125" y="120200"/>
            <a:ext cx="8552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Paper original: 'Attention is All You Need' (Vaswani et al., 2017)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Arquitectura Transformer - Visión General</a:t>
            </a:r>
            <a:endParaRPr/>
          </a:p>
        </p:txBody>
      </p:sp>
      <p:pic>
        <p:nvPicPr>
          <p:cNvPr id="116" name="Google Shape;116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75625" y="1005850"/>
            <a:ext cx="2762175" cy="357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6"/>
          <p:cNvSpPr txBox="1"/>
          <p:nvPr/>
        </p:nvSpPr>
        <p:spPr>
          <a:xfrm>
            <a:off x="90375" y="847625"/>
            <a:ext cx="10620900" cy="45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ESTRUCTURA ENCODER-DECODER:</a:t>
            </a:r>
            <a:endParaRPr b="1">
              <a:solidFill>
                <a:srgbClr val="3C78D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9900FF"/>
                </a:solidFill>
                <a:latin typeface="Calibri"/>
                <a:ea typeface="Calibri"/>
                <a:cs typeface="Calibri"/>
                <a:sym typeface="Calibri"/>
              </a:rPr>
              <a:t>ENCODER: Procesa la secuencia de entrada</a:t>
            </a:r>
            <a:endParaRPr b="1">
              <a:solidFill>
                <a:srgbClr val="9900FF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Stack de N=6 capas idénticas (no comparten pesos)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Cada capa: Multi-head Attention + Feed-Forward Network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Conexiones residuales + Layer Normalization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odas las subcapas del modelo, así como las capas de </a:t>
            </a:r>
            <a:b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embeddings, producen salidas de dimensión= 512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9900FF"/>
                </a:solidFill>
                <a:latin typeface="Calibri"/>
                <a:ea typeface="Calibri"/>
                <a:cs typeface="Calibri"/>
                <a:sym typeface="Calibri"/>
              </a:rPr>
              <a:t>DECODER: Genera la secuencia de salida</a:t>
            </a:r>
            <a:endParaRPr b="1">
              <a:solidFill>
                <a:srgbClr val="9900FF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Stack de N=6 capas (matching encoder)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Se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mantiene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casi todo igual salvo que se agrega una tercera </a:t>
            </a:r>
            <a:b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subcapa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Multi-head Attention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“Masked” para impedir que las posiciones atiendan a posiciones </a:t>
            </a:r>
            <a:b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posteriores. Asi, las predicciones para la posición i depende solo de las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salidas conocidas menores a la posición i. 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7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Self-Attention en Detalle</a:t>
            </a:r>
            <a:endParaRPr/>
          </a:p>
        </p:txBody>
      </p:sp>
      <p:sp>
        <p:nvSpPr>
          <p:cNvPr id="123" name="Google Shape;123;p7"/>
          <p:cNvSpPr txBox="1"/>
          <p:nvPr/>
        </p:nvSpPr>
        <p:spPr>
          <a:xfrm>
            <a:off x="457200" y="1188720"/>
            <a:ext cx="8229600" cy="5212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MECANISMO DE SELF-ATTENTION: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Para cada token, generar 3 vectores mediante proyecciones lineales: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Query (Q): '¿qué busco?'  →  W^Q * embedding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Key (K): '¿qué ofrezco?'  →  W^K * embedding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Value (V): 'mi información'  →  W^V * embedding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Calcular scores de atención (dot-product):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score(i,j) = Q_i · K_j^T / √d_k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donde d_k = dimensión de los vectores key (64 en BERT)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Aplicar softmax para normalizar scores → pesos de atención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Ponderar valores: output_i = Σ_j (attention_weight_ij * V_j)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Permite que cada token 'atienda' a todos los demás en la secuencia.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Multi-Head Attention</a:t>
            </a:r>
            <a:endParaRPr/>
          </a:p>
        </p:txBody>
      </p:sp>
      <p:sp>
        <p:nvSpPr>
          <p:cNvPr id="129" name="Google Shape;129;p8"/>
          <p:cNvSpPr txBox="1"/>
          <p:nvPr/>
        </p:nvSpPr>
        <p:spPr>
          <a:xfrm>
            <a:off x="457200" y="1188720"/>
            <a:ext cx="8229600" cy="5212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MULTI-HEAD ATTENTION: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 lugar de una única atención, usar H cabezales paralelos (h=12 en BERT base):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Cada cabezal aprende patrones diferentes: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h=1 podría capturar relaciones sintácticas (sujeto-verbo)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h=2 podría capturar relaciones semánticas (antónimos, sinónimos)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h=3 podría capturar dependencias posicionales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etc.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Proyecciones lineales independientes para cada cabezal: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W^Q_h, W^K_h, W^V_h  (h = 1,...,H)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Concatenar outputs de todos los cabezales → proyección final W^O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MultiHead(Q,K,V) = Concat(head_1,...,head_H) W^O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Positional Encoding</a:t>
            </a:r>
            <a:endParaRPr/>
          </a:p>
        </p:txBody>
      </p:sp>
      <p:sp>
        <p:nvSpPr>
          <p:cNvPr id="135" name="Google Shape;135;p9"/>
          <p:cNvSpPr txBox="1"/>
          <p:nvPr/>
        </p:nvSpPr>
        <p:spPr>
          <a:xfrm>
            <a:off x="457200" y="1188720"/>
            <a:ext cx="8229600" cy="5212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POSITIONAL ENCODING: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PROBLEMA: Self-attention es permutation-invariant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 sin orden posicional, 'el gato come pescado' = 'pescado come el gato'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SOLUCIÓN: Agregar encodings posicionales a los embeddings de entrada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Funciones sinusoidales de diferentes frecuencias: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PE(pos, 2i) = sin(pos / 10000^(2i/d_model))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PE(pos, 2i+1) = cos(pos / 10000^(2i/d_model))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donde: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pos = posición del token en la secuencia (0, 1, 2, ...)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i = dimensión del embedding (0 a d_model/2)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d_model = 768 (en BERT base)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Ventajas: funciones periódicas permiten extrapolar a secuencias más largas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Layer Normalization y Residual Connections</a:t>
            </a:r>
            <a:endParaRPr/>
          </a:p>
        </p:txBody>
      </p:sp>
      <p:sp>
        <p:nvSpPr>
          <p:cNvPr id="141" name="Google Shape;141;p10"/>
          <p:cNvSpPr txBox="1"/>
          <p:nvPr/>
        </p:nvSpPr>
        <p:spPr>
          <a:xfrm>
            <a:off x="457200" y="1188720"/>
            <a:ext cx="8229600" cy="5212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LAYER NORMALIZATION: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Normalizar cada capa para estabilizar el entrenamiento: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x_norm = γ * (x - μ) / √(σ² + ε) + β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donde μ y σ se calculan sobre todas las features del token actual.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γ y β son parámetros aprendibles (scale y shift).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RESIDUAL CONNECTIONS: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output = LayerNorm(x + Sublayer(x))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Beneficios: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Facilita el flujo de gradientes (evita vanishing gradients)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Permite entrenar redes muy profundas (12-24 capas en BERT)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Acelera convergencia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BERT - Arquitectura</a:t>
            </a:r>
            <a:endParaRPr/>
          </a:p>
        </p:txBody>
      </p:sp>
      <p:sp>
        <p:nvSpPr>
          <p:cNvPr id="147" name="Google Shape;147;p11"/>
          <p:cNvSpPr txBox="1"/>
          <p:nvPr/>
        </p:nvSpPr>
        <p:spPr>
          <a:xfrm>
            <a:off x="457200" y="1188720"/>
            <a:ext cx="8229600" cy="5212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BERT: Bidirectional Encoder Representations from Transformers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DIFERENCIA CLAVE vs GPT: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BERT: solo ENCODERS → atención bidireccional (contexto completo)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GPT: solo DECODERS → atención causal (solo contexto izquierdo)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BERT BASE (nuestro modelo):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L=12 capas (encoders)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H=768 hidden size (dimensión de embeddings)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A=12 attention heads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~110M parámetros totales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BERT LARGE: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L=24 capas, H=1024, A=16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~340M parámetros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Pre-training de BERT</a:t>
            </a:r>
            <a:endParaRPr/>
          </a:p>
        </p:txBody>
      </p:sp>
      <p:sp>
        <p:nvSpPr>
          <p:cNvPr id="153" name="Google Shape;153;p12"/>
          <p:cNvSpPr txBox="1"/>
          <p:nvPr/>
        </p:nvSpPr>
        <p:spPr>
          <a:xfrm>
            <a:off x="457200" y="1188720"/>
            <a:ext cx="8229600" cy="5212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PRE-TRAINING DE BERT (Google, 2018):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DOS TAREAS DE PRE-ENTRENAMIENTO NO SUPERVISADO: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MASKED LANGUAGE MODEL (MLM):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15% de tokens se enmascaran aleatoriamente con [MASK]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Objetivo: predecir los tokens enmascarados usando contexto bidireccional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Ejemplo: 'El [MASK] come pescado' → predecir 'gato'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Aprende representaciones contextuales profundas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NEXT SENTENCE PREDICTION (NSP):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Par de oraciones (A, B)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50% B sigue a A, 50% B es aleatoria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Objetivo: clasificar si B sigue a A (binario)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Aprende relaciones inter-oracionales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Dataset: BooksCorpus (800M palabras) + Wikipedia inglesa (2,500M palabras)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Fine-Tuning de BERT</a:t>
            </a:r>
            <a:endParaRPr/>
          </a:p>
        </p:txBody>
      </p:sp>
      <p:sp>
        <p:nvSpPr>
          <p:cNvPr id="159" name="Google Shape;159;p13"/>
          <p:cNvSpPr txBox="1"/>
          <p:nvPr/>
        </p:nvSpPr>
        <p:spPr>
          <a:xfrm>
            <a:off x="457200" y="1188720"/>
            <a:ext cx="8229600" cy="5212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FINE-TUNING: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DEFINICIÓN: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Ajustar un modelo pre-entrenado a una tarea específica downstream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entrenando TODOS los parámetros con un dataset etiquetado.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VENTAJAS DE TRANSFER LEARNING: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Aprovecha conocimiento lingüístico general del pre-training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Requiere menos datos etiquetados que entrenar from scratch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Mejor performance y convergencia más rápida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Generaliza mejor en dominios específicos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PROCESO: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Cargar BERT pre-entrenado (pesos de MLM + NSP)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Agregar capa de clasificación task-specific (linear layer)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Fine-tunear TODAS las capas (no solo la capa final)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Learning rate bajo (2e-5) para no 'destruir' el pre-training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¿Por qué BERT y no otros modelos?</a:t>
            </a:r>
            <a:endParaRPr/>
          </a:p>
        </p:txBody>
      </p:sp>
      <p:sp>
        <p:nvSpPr>
          <p:cNvPr id="165" name="Google Shape;165;p14"/>
          <p:cNvSpPr txBox="1"/>
          <p:nvPr/>
        </p:nvSpPr>
        <p:spPr>
          <a:xfrm>
            <a:off x="457200" y="847375"/>
            <a:ext cx="8229600" cy="661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COMPARACIÓN DE MODELOS: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Word2Vec / GloVe: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✗ Embeddings estáticos (misma representación siempre)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Rápidos y buenos para ciertas tareas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ELMo (2018):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Embeddings contextuales (LSTM bidireccional)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✗ Más lento que Transformers, menor capacidad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 (decoder-only):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✗ Unidireccional (solo contexto previo)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Excelente para generación de texto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BERT (encoder-only):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Bidireccional: contexto completo (izquierda + derecha)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State-of-the-art en clasificación (2018-2020)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Modelo pre-entrenado disponible en Hugging Face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Documentación extensa y comunidad activa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5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Tokenización con BERT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457200" y="1188720"/>
            <a:ext cx="8229600" cy="5212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TOKENIZACIÓN: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BERT usa WordPiece tokenization (subword tokenization):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Vocabulario de ~30,522 subword tokens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Palabras frecuentes → token único ('playing')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Palabras raras → split en subwords ('playing' → 'play', '##ing')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Reduce vocabulario y maneja OOV (out-of-vocabulary)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TOKENS ESPECIALES: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[CLS]: inicio de secuencia (usado para clasificación)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[SEP]: separador de oraciones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[PAD]: padding para igualar longitudes en batch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[UNK]: tokens desconocidos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[MASK]: para MLM pre-training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Ejemplo: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Input: 'amazing gameplay'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Tokens: [CLS] amazing game ##play [SEP] [PAD] [PAD] ...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6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6600"/>
                </a:solidFill>
                <a:latin typeface="Calibri"/>
                <a:ea typeface="Calibri"/>
                <a:cs typeface="Calibri"/>
                <a:sym typeface="Calibri"/>
              </a:rPr>
              <a:t>SEMANA 1</a:t>
            </a:r>
            <a:endParaRPr/>
          </a:p>
        </p:txBody>
      </p:sp>
      <p:sp>
        <p:nvSpPr>
          <p:cNvPr id="177" name="Google Shape;177;p16"/>
          <p:cNvSpPr txBox="1"/>
          <p:nvPr/>
        </p:nvSpPr>
        <p:spPr>
          <a:xfrm>
            <a:off x="914400" y="3017520"/>
            <a:ext cx="73152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Elección del Dataset y Aplicación Propuesta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c8a0caada3_0_22"/>
          <p:cNvSpPr txBox="1"/>
          <p:nvPr/>
        </p:nvSpPr>
        <p:spPr>
          <a:xfrm>
            <a:off x="227750" y="692925"/>
            <a:ext cx="8765700" cy="46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El problema abordado es el </a:t>
            </a:r>
            <a:r>
              <a:rPr b="1" lang="en-US" sz="1600">
                <a:solidFill>
                  <a:schemeClr val="dk1"/>
                </a:solidFill>
              </a:rPr>
              <a:t>análisis de sentimiento automático sobre reseñas de videojuegos en distintos foros</a:t>
            </a:r>
            <a:r>
              <a:rPr lang="en-US" sz="1600">
                <a:solidFill>
                  <a:schemeClr val="dk1"/>
                </a:solidFill>
              </a:rPr>
              <a:t>, hay miles de plataformas con millones de reseñas escritas por usuarios que expresan su opinión sobre los juegos de manera libre y subjetiva. El desafío radica en que este tipo de texto es particularmente ruidoso: contiene arte ASCII, slang específico del gaming, sarcasmo, reseñas mixtas y un vocabulario muy particular del dominio. La tarea consiste en clasificar cada reseña como </a:t>
            </a:r>
            <a:r>
              <a:rPr b="1" lang="en-US" sz="1600">
                <a:solidFill>
                  <a:schemeClr val="dk1"/>
                </a:solidFill>
              </a:rPr>
              <a:t>positiva o negativa</a:t>
            </a:r>
            <a:r>
              <a:rPr lang="en-US" sz="1600">
                <a:solidFill>
                  <a:schemeClr val="dk1"/>
                </a:solidFill>
              </a:rPr>
              <a:t>, usando como dataset público el</a:t>
            </a:r>
            <a:r>
              <a:rPr lang="en-US" sz="1600">
                <a:solidFill>
                  <a:schemeClr val="dk1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600" u="sng">
                <a:solidFill>
                  <a:schemeClr val="hlink"/>
                </a:solidFill>
                <a:hlinkClick r:id="rId4"/>
              </a:rPr>
              <a:t>Steam Reviews de Kaggle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La aplicación propuesta es un </a:t>
            </a:r>
            <a:r>
              <a:rPr b="1" lang="en-US" sz="1600">
                <a:solidFill>
                  <a:schemeClr val="dk1"/>
                </a:solidFill>
              </a:rPr>
              <a:t>clasificador de sentimiento web</a:t>
            </a:r>
            <a:r>
              <a:rPr lang="en-US" sz="1600">
                <a:solidFill>
                  <a:schemeClr val="dk1"/>
                </a:solidFill>
              </a:rPr>
              <a:t> desarrollado con Streamlit, que permite al usuario interactuar con el modelo de dos formas: ingresando manualmente el texto de una reseña para obtener una predicción en tiempo real, o bien ingresando un Steam App ID para que la aplicación consuma la Steam Store API, descargue reseñas reales del juego seleccionado, las clasifique en batch y muestre un análisis agregado de sentimiento con comparación contra las etiquetas nativas de Steam.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g3c8a0caada3_0_22"/>
          <p:cNvSpPr txBox="1"/>
          <p:nvPr/>
        </p:nvSpPr>
        <p:spPr>
          <a:xfrm>
            <a:off x="0" y="0"/>
            <a:ext cx="8729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Descripción del problema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7"/>
          <p:cNvSpPr txBox="1"/>
          <p:nvPr/>
        </p:nvSpPr>
        <p:spPr>
          <a:xfrm>
            <a:off x="457200" y="2743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Dataset Seleccionado: Steam Reviews</a:t>
            </a:r>
            <a:endParaRPr/>
          </a:p>
        </p:txBody>
      </p:sp>
      <p:sp>
        <p:nvSpPr>
          <p:cNvPr id="189" name="Google Shape;189;p17"/>
          <p:cNvSpPr txBox="1"/>
          <p:nvPr/>
        </p:nvSpPr>
        <p:spPr>
          <a:xfrm>
            <a:off x="457200" y="1188720"/>
            <a:ext cx="82296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DATASET: 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Steam Reviews (Kaggle)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FUENTE: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https://www.kaggle.com/datasets/andrewmvd/steam-reviews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 txBox="1"/>
          <p:nvPr/>
        </p:nvSpPr>
        <p:spPr>
          <a:xfrm>
            <a:off x="457200" y="152045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Justificación del Dataset</a:t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457200" y="735525"/>
            <a:ext cx="8229600" cy="58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¿POR QUÉ STEAM REVIEWS?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✓ DOMINIO ESPECÍFICO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Vocabulario rico en gaming (gameplay, FPS, loot, grind, etc.)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Desafío interesante vs reseñas genéricas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✓ TAMAÑO ADECUADO</a:t>
            </a:r>
            <a:endParaRPr b="1" sz="1600">
              <a:solidFill>
                <a:srgbClr val="4A86E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6.4 million game reviews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✓ PROBLEMA BIEN DEFINIDO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Clasificación binaria clara (positivo/negativo)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Labels confiables (votación de usuarios)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✓ DESAFÍO TÉCNICO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Texto ruidoso (arte ASCII, emotes, slang)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Reseñas cortas y largas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Sarcasmo y casos ambiguos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9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Aplicación Web Propuesta</a:t>
            </a:r>
            <a:endParaRPr/>
          </a:p>
        </p:txBody>
      </p:sp>
      <p:sp>
        <p:nvSpPr>
          <p:cNvPr id="201" name="Google Shape;201;p19"/>
          <p:cNvSpPr txBox="1"/>
          <p:nvPr/>
        </p:nvSpPr>
        <p:spPr>
          <a:xfrm>
            <a:off x="457200" y="854045"/>
            <a:ext cx="8229600" cy="487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APLICACIÓN WEB - DOS MODOS: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MODO 1: ANÁLISIS MANUAL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Text area para escribir/pegar reseña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Clasificación en tiempo real al hacer click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Output: sentimiento (positivo/negativo), confidence score,</a:t>
            </a:r>
            <a:r>
              <a:rPr lang="en-US"/>
              <a:t>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texto preprocesado visible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MODO 2: ANÁLISIS POR STEAM APP ID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Input: Steam App ID (ej: 1850570 para Death Stranding)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Fetch de N reseñas reales desde Steam Store API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Clasificación batch de todas las reseñas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Métricas agregadas: % positivas vs negativas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Comparación con Steam's own recommendation labels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Muestras de predicciones con confianza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0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6600"/>
                </a:solidFill>
                <a:latin typeface="Calibri"/>
                <a:ea typeface="Calibri"/>
                <a:cs typeface="Calibri"/>
                <a:sym typeface="Calibri"/>
              </a:rPr>
              <a:t>SEMANA 2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914400" y="3017520"/>
            <a:ext cx="7315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Creación del Dataset en PyTorch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Preprocesamiento - Desafíos</a:t>
            </a:r>
            <a:endParaRPr/>
          </a:p>
        </p:txBody>
      </p:sp>
      <p:sp>
        <p:nvSpPr>
          <p:cNvPr id="213" name="Google Shape;213;p21"/>
          <p:cNvSpPr txBox="1"/>
          <p:nvPr/>
        </p:nvSpPr>
        <p:spPr>
          <a:xfrm>
            <a:off x="457200" y="1188720"/>
            <a:ext cx="8229600" cy="41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Reseñas de Steam contienen mucho ruido: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Arte ASCII decorativo (░▒▓█, ▄▀■□, etc.)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URLs y links externos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Emotes con asteriscos: *joins server*, *dies inside*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Ratios y puntuaciones: 10/10, 9.5/10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Caracteres no-ASCII y símbolos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Spam y texto repetitivo ('aaaaaa', '!!!!!!!')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Mezcla de idiomas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Sin preprocesamiento agresivo: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 Tokens irrelevantes saturan el modelo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 Pérdida de capacidad semántica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Pipeline de Limpieza (01_download_and_clean.py)</a:t>
            </a:r>
            <a:endParaRPr/>
          </a:p>
        </p:txBody>
      </p:sp>
      <p:sp>
        <p:nvSpPr>
          <p:cNvPr id="219" name="Google Shape;219;p22"/>
          <p:cNvSpPr txBox="1"/>
          <p:nvPr/>
        </p:nvSpPr>
        <p:spPr>
          <a:xfrm>
            <a:off x="457200" y="822895"/>
            <a:ext cx="8229600" cy="52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Eliminar URLs (http/https/www)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Remover arte ASCII (░▒▓█▄▀■□▪▫●○◆◇, etc.)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Limpiar emotes (*texto*) y bullets (•, ►, ▪)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Normalizar ratios: '10/10' → '10 out of 10' (preserva significado)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Eliminar resoluciones (1920x1080, etc.)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6. Remover caracteres no-ASCII (excepto acentos básicos)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7. Eliminar números sueltos (pero mantener '3D', 'PS4')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8. Colapsar puntuación excesiva: '!!!!' → '!!'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9. Limpiar caracteres especiales (mantener a-zA-Z y .,!?'-)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10. Colapsar espacios múltiples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11. Lowercase (requerido por bert-base-uncased)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Filtrado adicional: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Rechazar si &lt;5 o &gt;200 palabras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Rechazar si &lt;50% caracteres únicos (spam detection)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Balanceo de Clases</a:t>
            </a:r>
            <a:endParaRPr/>
          </a:p>
        </p:txBody>
      </p:sp>
      <p:sp>
        <p:nvSpPr>
          <p:cNvPr id="225" name="Google Shape;225;p23"/>
          <p:cNvSpPr txBox="1"/>
          <p:nvPr/>
        </p:nvSpPr>
        <p:spPr>
          <a:xfrm>
            <a:off x="457200" y="866920"/>
            <a:ext cx="8229600" cy="487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DATASET ORIGINAL: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Desbalanceado naturalmente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Más reseñas positivas que negativas (bias hacia juegos buenos)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ESTRATEGIA DE BALANCEO: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Muestreo aleatorio estratificado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25,000 positivas + 25,000 negativas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Shuffle final con seed=42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¿POR QUÉ BALANCEAR?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Evita bias del modelo hacia la clase mayoritaria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Accuracy es una métrica válida (no engañosa)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Mejor generalización en ambas clases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Simplifica interpretación de métricas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Guardar como: data/clean_reviews.csv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Tokenización con BertTokenizer (02_tokenize_and_dataset.py)</a:t>
            </a:r>
            <a:endParaRPr/>
          </a:p>
        </p:txBody>
      </p:sp>
      <p:sp>
        <p:nvSpPr>
          <p:cNvPr id="231" name="Google Shape;231;p24"/>
          <p:cNvSpPr txBox="1"/>
          <p:nvPr/>
        </p:nvSpPr>
        <p:spPr>
          <a:xfrm>
            <a:off x="457200" y="1188720"/>
            <a:ext cx="8229600" cy="55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HERRAMIENTA: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BertTokenizer.from_pretrained('bert-base-uncased')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CONFIGURACIÓN: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tokenizer(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text,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add_special_tokens=True,                                  # [CLS] ... [SEP]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max_length=128,                                                 # Longitud máxima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padding='max_length',                                       # Pad a 128 tokens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truncation=True,                                                  # Truncar si &gt; 128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return_attention_mask=True,                           # Máscara de padding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return_tensors='pt'                                             # PyTorch tensors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¿POR QUÉ max_length=128?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BERT soporta hasta 512 tokens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Pero 128 es suficiente para 95% de nuestras reseñas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Menor memoria GPU → batch size más grande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Training ~2x más rápido que con 512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5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Attention Masks</a:t>
            </a:r>
            <a:endParaRPr/>
          </a:p>
        </p:txBody>
      </p:sp>
      <p:sp>
        <p:nvSpPr>
          <p:cNvPr id="237" name="Google Shape;237;p25"/>
          <p:cNvSpPr txBox="1"/>
          <p:nvPr/>
        </p:nvSpPr>
        <p:spPr>
          <a:xfrm>
            <a:off x="457200" y="950325"/>
            <a:ext cx="8229600" cy="487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PROBLEMA: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Batch de secuencias de diferentes longitudes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 padding con [PAD] tokens para igualar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SOLUCIÓN: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Attention mask indica qué tokens son reales vs padding: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1 = token real (debe ser atendido)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0 = padding (debe ser ignorado)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Tokens:  [CLS] this game rocks [SEP] [PAD] [PAD] [PAD]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IDs:     [ 101  2023  2208  5714  102   0     0     0  ]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Mask:    [  1    1    1    1    1    0     0     0  ]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DURANTE SELF-ATTENTION</a:t>
            </a: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Tokens con mask=1 participan normalmente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Tokens con mask=0 son enmascarados (score → -inf antes de softmax)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6"/>
          <p:cNvSpPr txBox="1"/>
          <p:nvPr/>
        </p:nvSpPr>
        <p:spPr>
          <a:xfrm>
            <a:off x="180460" y="7104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TensorDataset y Splits</a:t>
            </a:r>
            <a:endParaRPr/>
          </a:p>
        </p:txBody>
      </p:sp>
      <p:sp>
        <p:nvSpPr>
          <p:cNvPr id="243" name="Google Shape;243;p26"/>
          <p:cNvSpPr txBox="1"/>
          <p:nvPr/>
        </p:nvSpPr>
        <p:spPr>
          <a:xfrm>
            <a:off x="457200" y="600676"/>
            <a:ext cx="8229600" cy="55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COMPONENTES: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input_ids: índices de tokens en vocabulario (shape: [N, 128])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attention_mask: máscara de padding (shape: [N, 128])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labels: 0=negativa, 1=positiva (shape: [N])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 = TensorDataset(input_ids, attention_masks, labels)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SPLIT 80/10/10 (random_split con seed):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Train: 40,000 muestras (80%)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Validation: 5,000 muestras (10%)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Test: 5,000 muestras (10%)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Guardado como .pt: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torch.save(train_dataset, 'tensors/train_dataset.pt')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torch.save(val_dataset, 'tensors/val_dataset.pt')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torch.save(test_dataset, 'tensors/test_dataset.pt')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7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6600"/>
                </a:solidFill>
                <a:latin typeface="Calibri"/>
                <a:ea typeface="Calibri"/>
                <a:cs typeface="Calibri"/>
                <a:sym typeface="Calibri"/>
              </a:rPr>
              <a:t>SEMANA 3</a:t>
            </a:r>
            <a:endParaRPr/>
          </a:p>
        </p:txBody>
      </p:sp>
      <p:sp>
        <p:nvSpPr>
          <p:cNvPr id="249" name="Google Shape;249;p27"/>
          <p:cNvSpPr txBox="1"/>
          <p:nvPr/>
        </p:nvSpPr>
        <p:spPr>
          <a:xfrm>
            <a:off x="914400" y="3017520"/>
            <a:ext cx="7315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Entrenamiento y Selección del Modelo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8"/>
          <p:cNvSpPr txBox="1"/>
          <p:nvPr/>
        </p:nvSpPr>
        <p:spPr>
          <a:xfrm>
            <a:off x="457200" y="-21727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Arquitectura del Modelo</a:t>
            </a:r>
            <a:endParaRPr/>
          </a:p>
        </p:txBody>
      </p:sp>
      <p:sp>
        <p:nvSpPr>
          <p:cNvPr id="255" name="Google Shape;255;p28"/>
          <p:cNvSpPr txBox="1"/>
          <p:nvPr/>
        </p:nvSpPr>
        <p:spPr>
          <a:xfrm>
            <a:off x="457200" y="551579"/>
            <a:ext cx="8229600" cy="59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6600"/>
                </a:solidFill>
                <a:latin typeface="Calibri"/>
                <a:ea typeface="Calibri"/>
                <a:cs typeface="Calibri"/>
                <a:sym typeface="Calibri"/>
              </a:rPr>
              <a:t>MODELO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BertForSequenceClassification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6600"/>
                </a:solidFill>
                <a:latin typeface="Calibri"/>
                <a:ea typeface="Calibri"/>
                <a:cs typeface="Calibri"/>
                <a:sym typeface="Calibri"/>
              </a:rPr>
              <a:t>COMPONENTES DEL MODELO</a:t>
            </a:r>
            <a:r>
              <a:rPr lang="en-US" sz="1600">
                <a:solidFill>
                  <a:srgbClr val="FF660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600">
              <a:solidFill>
                <a:srgbClr val="FF66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1. BERT PRE-ENTRENADO (backbone):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12 capas transformer (encoder stack)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768 dimensiones hidden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12 attention heads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Embeddings: token + position + segment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2. POOLER: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Toma el embedding final del token [CLS]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Dense(768 → 768) + Tanh activation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Representa toda la secuencia en un vector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3. CLASSIFIER (capa añadida para fine-tuning):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Linear(768 → 2)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Output: logits sin activación [score_neg, score_pos]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CrossEntropyLoss aplicado sobre logits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PARÁMETROS TOTALES: ~110M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PARÁMETROS ENTRENABLES: 100% (fine-tuning completo, no freezing)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Hiperparámetros - Justificación Detallada</a:t>
            </a:r>
            <a:endParaRPr/>
          </a:p>
        </p:txBody>
      </p:sp>
      <p:sp>
        <p:nvSpPr>
          <p:cNvPr id="261" name="Google Shape;261;p29"/>
          <p:cNvSpPr txBox="1"/>
          <p:nvPr/>
        </p:nvSpPr>
        <p:spPr>
          <a:xfrm>
            <a:off x="457200" y="899109"/>
            <a:ext cx="8229600" cy="55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HIPERPARÁMETROS (03_train_model.py):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LEARNING RATE: 2e-5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Valor canónico del paper BERT para fine-tuning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Probado en {3e-5, 2e-5, 5e-5} → 2e-5 mejor en validación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Suficientemente bajo para preservar pre-training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Permite ajuste fino sin catástrofe de olvido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EPOCHS: 3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Paper BERT: 2-4 épocas óptimo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Época 1: modelo aprende task-specific patterns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Época 2-3: refinamiento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Más épocas → overfitting en datasets medianos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BATCH SIZE: 32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Recomendación BERT: 16 o 32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32 fit perfectamente en RTX 5090 (32GB VRAM)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40,000 samples / 32 = 1,250 batches por época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Balance entre memory y convergence speed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Optimizer y Scheduler</a:t>
            </a:r>
            <a:endParaRPr/>
          </a:p>
        </p:txBody>
      </p:sp>
      <p:sp>
        <p:nvSpPr>
          <p:cNvPr id="267" name="Google Shape;267;p30"/>
          <p:cNvSpPr txBox="1"/>
          <p:nvPr/>
        </p:nvSpPr>
        <p:spPr>
          <a:xfrm>
            <a:off x="457200" y="892673"/>
            <a:ext cx="8229600" cy="55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OPTIMIZER: AdamW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AdamW = Adam + Weight Decay (regularización L2 desacoplada)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Parámetros: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lr = 2e-5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eps = 1e-8 (estabilidad numérica)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weight_decay implícito en AdamW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Ventajas sobre Adam vanilla: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Mejor generalización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Manejo correcto de weight decay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SCHEDULER: Linear Schedule with Warmup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Total steps = epochs * steps_per_epoch = 3 * 1,250 = 3,750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Warmup steps = 0 (sin warmup en este caso)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Learning rate decae linealmente desde 2e-5 hasta 0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Beneficios: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Convergencia más estable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Evita overshooting al final del training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1"/>
          <p:cNvSpPr txBox="1"/>
          <p:nvPr/>
        </p:nvSpPr>
        <p:spPr>
          <a:xfrm>
            <a:off x="457200" y="2743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Proceso de Fine-Tuning Detallado (03_train_model.py)</a:t>
            </a:r>
            <a:endParaRPr/>
          </a:p>
        </p:txBody>
      </p:sp>
      <p:sp>
        <p:nvSpPr>
          <p:cNvPr id="273" name="Google Shape;273;p31"/>
          <p:cNvSpPr txBox="1"/>
          <p:nvPr/>
        </p:nvSpPr>
        <p:spPr>
          <a:xfrm>
            <a:off x="457200" y="913375"/>
            <a:ext cx="8229600" cy="51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POR CADA ÉPOCA: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1. Modo entrenamiento: model.train()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POR CADA BATCH: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a. Cargar batch desde DataLoader (input_ids, attention_mask, labels)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b. Mover tensores a GPU (.to(device))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c. Zero gradients: model.zero_grad()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d. Forward pass: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outputs = model(input_ids, attention_mask, labels)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loss = outputs.loss  (CrossEntropy calculada internamente)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e. Backward pass: loss.backward()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f. Gradient clipping: clip_grad_norm_(parameters, max_norm=1.0)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→ Evita exploding gradients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g. Optimizer step: optimizer.step()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h. Scheduler step: scheduler.step()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2. VALIDACIÓN al final de cada época: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model.eval() + torch.no_grad()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Calcular val_loss y val_accuracy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3. Guardar training stats (época, train_loss, val_loss, val_acc)</a:t>
            </a:r>
            <a:endParaRPr sz="12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Resultados de Entrenamiento</a:t>
            </a:r>
            <a:endParaRPr/>
          </a:p>
        </p:txBody>
      </p:sp>
      <p:sp>
        <p:nvSpPr>
          <p:cNvPr id="279" name="Google Shape;279;p32"/>
          <p:cNvSpPr txBox="1"/>
          <p:nvPr/>
        </p:nvSpPr>
        <p:spPr>
          <a:xfrm>
            <a:off x="457200" y="937720"/>
            <a:ext cx="8229600" cy="51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ÉPOCA 1:</a:t>
            </a:r>
            <a:endParaRPr b="1" sz="1600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Train Loss: 0.2845</a:t>
            </a:r>
            <a:endParaRPr sz="16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Val Loss: 0.2156</a:t>
            </a:r>
            <a:endParaRPr sz="16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Val Accuracy: 91.2%</a:t>
            </a:r>
            <a:endParaRPr sz="16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ÉPOCA 2:</a:t>
            </a:r>
            <a:endParaRPr b="1" sz="1600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Train Loss: 0.1523</a:t>
            </a:r>
            <a:endParaRPr sz="16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Val Loss: 0.2201</a:t>
            </a:r>
            <a:endParaRPr sz="16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Val Accuracy: 92.1%  ← MEJOR</a:t>
            </a:r>
            <a:endParaRPr sz="16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ÉPOCA 3:</a:t>
            </a:r>
            <a:endParaRPr b="1" sz="1600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Train Loss: 0.0843  (sigue bajando)</a:t>
            </a:r>
            <a:endParaRPr sz="16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Val Loss: 0.2498  (empieza a subir → overfitting)</a:t>
            </a:r>
            <a:endParaRPr sz="16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Val Accuracy: 91.8%</a:t>
            </a:r>
            <a:endParaRPr sz="16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Análisis de Curvas de Pérdida</a:t>
            </a:r>
            <a:endParaRPr/>
          </a:p>
        </p:txBody>
      </p:sp>
      <p:sp>
        <p:nvSpPr>
          <p:cNvPr id="285" name="Google Shape;285;p33"/>
          <p:cNvSpPr txBox="1"/>
          <p:nvPr/>
        </p:nvSpPr>
        <p:spPr>
          <a:xfrm>
            <a:off x="457200" y="1188720"/>
            <a:ext cx="8229600" cy="52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TRAIN LOSS: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Disminuye monótonamente: 0.28 → 0.15 → 0.08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Modelo aprende bien los datos de entrenamiento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VAL LOSS: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Época 1→2: mejora (0.216 → 0.220)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Época 2→3: empeora (0.220 → 0.250)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Señal clara de overfitting comenzando en época 3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CONCLUSIÓN: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3 épocas es óptimo para este dataset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No necesita más entrenamiento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Stopping en época 2 basado en val_loss sería ideal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INTERPRETACIÓN: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Gap pequeño train/val → buena generalización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Val accuracy 92% es excelente para clasificación de texto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MCC &gt; 0.80 considerado muy bueno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Exportación del Modelo (05_export_model.py)</a:t>
            </a:r>
            <a:endParaRPr/>
          </a:p>
        </p:txBody>
      </p:sp>
      <p:sp>
        <p:nvSpPr>
          <p:cNvPr id="291" name="Google Shape;291;p34"/>
          <p:cNvSpPr txBox="1"/>
          <p:nvPr/>
        </p:nvSpPr>
        <p:spPr>
          <a:xfrm>
            <a:off x="457200" y="1188720"/>
            <a:ext cx="8229600" cy="52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ARCHIVOS GUARDADOS: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config.json: configuración del modelo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model.safetensors: pesos del modelo (formato seguro)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tokenizer.json: vocabulario y reglas de tokenización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tokenizer_config.json: configuración del tokenizer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MÉTODO: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model.save_pretrained('model_files/')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tokenizer.save_pretrained('model_files/')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VENTAJAS: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Formato estándar Hugging Face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Recarga fácil: BertForSequenceClassification.from_pretrained()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Compatible con Transformers library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SafeTensors evita ejecución de código malicioso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Tamaño total: ~440 MB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5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6600"/>
                </a:solidFill>
                <a:latin typeface="Calibri"/>
                <a:ea typeface="Calibri"/>
                <a:cs typeface="Calibri"/>
                <a:sym typeface="Calibri"/>
              </a:rPr>
              <a:t>SEMANA 4</a:t>
            </a:r>
            <a:endParaRPr/>
          </a:p>
        </p:txBody>
      </p:sp>
      <p:sp>
        <p:nvSpPr>
          <p:cNvPr id="297" name="Google Shape;297;p35"/>
          <p:cNvSpPr txBox="1"/>
          <p:nvPr/>
        </p:nvSpPr>
        <p:spPr>
          <a:xfrm>
            <a:off x="914400" y="3017520"/>
            <a:ext cx="7315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Interfaz Web y Despliegue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6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Aplicación Streamlit - Arquitectura</a:t>
            </a:r>
            <a:endParaRPr/>
          </a:p>
        </p:txBody>
      </p:sp>
      <p:sp>
        <p:nvSpPr>
          <p:cNvPr id="303" name="Google Shape;303;p36"/>
          <p:cNvSpPr txBox="1"/>
          <p:nvPr/>
        </p:nvSpPr>
        <p:spPr>
          <a:xfrm>
            <a:off x="457200" y="899120"/>
            <a:ext cx="8229600" cy="55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app.py (Interfaz principal):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Configuración de página (título, layout, etc.)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Carga del modelo con @st.cache_resource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Tabs: Manual Input + Steam App Analysis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Lógica de UI y llamadas a utils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utils.py:</a:t>
            </a:r>
            <a:endParaRPr b="1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load_model(): carga BERT + tokenizer desde model_files/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predict_sentiment(text, model, tokenizer, device):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1. Limpiar texto (mismo pipeline que training)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2. Tokenizar con max_length=128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3. Forward pass (model.eval())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4. Softmax sobre logits → probabilidades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5. Retornar label + confidence + cleaned_text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fetch_steam_reviews(app_id, n): llamada a Steam API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analyze_reviews(reviews, model, tokenizer, device):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Clasificación batch + agregación de métricas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7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Tab 1: Manual Input</a:t>
            </a:r>
            <a:endParaRPr/>
          </a:p>
        </p:txBody>
      </p:sp>
      <p:sp>
        <p:nvSpPr>
          <p:cNvPr id="309" name="Google Shape;309;p37"/>
          <p:cNvSpPr txBox="1"/>
          <p:nvPr/>
        </p:nvSpPr>
        <p:spPr>
          <a:xfrm>
            <a:off x="457200" y="789695"/>
            <a:ext cx="8229600" cy="57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INTERFAZ:</a:t>
            </a:r>
            <a:endParaRPr b="1" sz="1200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st.text_area() para input de usuario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Botón 'Classify' → trigger de predicción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Validación: mínimo 10 caracteres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PROCESAMIENTO:</a:t>
            </a:r>
            <a:endParaRPr b="1" sz="1200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Recibir texto del usuario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Llamar predict_sentiment() de utils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Mostrar resultado: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Badge de color: verde (positivo) / rojo (negativo)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Confidence score + barra de progreso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Expander con texto preprocesado (para debugging)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4A86E8"/>
                </a:solidFill>
                <a:latin typeface="Calibri"/>
                <a:ea typeface="Calibri"/>
                <a:cs typeface="Calibri"/>
                <a:sym typeface="Calibri"/>
              </a:rPr>
              <a:t>EJEMPLO:</a:t>
            </a:r>
            <a:endParaRPr b="1" sz="1200">
              <a:solidFill>
                <a:srgbClr val="4A86E8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Input: 'This game is absolutely amazing, great graphics!'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Output: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Prediction: Positive 👍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Confidence: 98.5%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[Progress bar]</a:t>
            </a:r>
            <a:endParaRPr sz="12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Preprocessed: 'this game is absolutely amazing great graphics'</a:t>
            </a:r>
            <a:endParaRPr sz="12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8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Tab 2: Steam App Analysis</a:t>
            </a:r>
            <a:endParaRPr/>
          </a:p>
        </p:txBody>
      </p:sp>
      <p:sp>
        <p:nvSpPr>
          <p:cNvPr id="315" name="Google Shape;315;p38"/>
          <p:cNvSpPr txBox="1"/>
          <p:nvPr/>
        </p:nvSpPr>
        <p:spPr>
          <a:xfrm>
            <a:off x="457200" y="815445"/>
            <a:ext cx="8229600" cy="59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INTERFAZ:</a:t>
            </a:r>
            <a:endParaRPr b="1">
              <a:solidFill>
                <a:schemeClr val="accent1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Input: Steam App ID (ej: 1850570)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Slider: número de reseñas a analizar (10-100)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Botón 'Analyze Game'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PROCESO:</a:t>
            </a:r>
            <a:endParaRPr b="1">
              <a:solidFill>
                <a:schemeClr val="accent1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Fetch reseñas desde Steam Store API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GET https://store.steampowered.com/appreviews/{app_id}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Parámetros: json=1, language=english, num_per_page=100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Filtrar reseñas: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Sólo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inglés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Longitud válida (10-300 palabras)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Limpiar con pipeline de preprocesamiento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Clasificar batch completo con BERT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Calcular métricas agregadas: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% positivas según modelo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Comparación con Steam native labels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• Agreement rate (modelo vs Steam)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3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Evaluación y Resultados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c9478fcecd_0_8"/>
          <p:cNvSpPr txBox="1"/>
          <p:nvPr/>
        </p:nvSpPr>
        <p:spPr>
          <a:xfrm>
            <a:off x="196550" y="228175"/>
            <a:ext cx="65346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4A86E8"/>
                </a:solidFill>
              </a:rPr>
              <a:t>Link para utilizar el modelo</a:t>
            </a:r>
            <a:endParaRPr b="1" sz="1700">
              <a:solidFill>
                <a:srgbClr val="4A86E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https://xpiwv2jnr7jzyymgh8hxem.streamlit.app/#d58bdd3e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Google Shape;330;g3c9478fcecd_0_0" title="confusion_matrix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5301" y="165775"/>
            <a:ext cx="4474974" cy="3356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g3c9478fcecd_0_0" title="training_los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31775" y="3691625"/>
            <a:ext cx="6015951" cy="3007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1"/>
          <p:cNvSpPr txBox="1"/>
          <p:nvPr/>
        </p:nvSpPr>
        <p:spPr>
          <a:xfrm>
            <a:off x="914400" y="2286000"/>
            <a:ext cx="7315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Conclusiones, Logros y Aprendizajes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57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>
                <a:solidFill>
                  <a:srgbClr val="003366"/>
                </a:solidFill>
                <a:latin typeface="Calibri"/>
                <a:ea typeface="Calibri"/>
                <a:cs typeface="Calibri"/>
                <a:sym typeface="Calibri"/>
              </a:rPr>
              <a:t>¡Gracias!</a:t>
            </a:r>
            <a:endParaRPr/>
          </a:p>
        </p:txBody>
      </p:sp>
      <p:sp>
        <p:nvSpPr>
          <p:cNvPr id="342" name="Google Shape;342;p57"/>
          <p:cNvSpPr txBox="1"/>
          <p:nvPr/>
        </p:nvSpPr>
        <p:spPr>
          <a:xfrm>
            <a:off x="914400" y="4572000"/>
            <a:ext cx="7315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